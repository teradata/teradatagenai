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chVision Solutions Overview" id="{8D0D3242-73CD-401A-AB80-58998C3A713B}">
          <p14:sldIdLst>
            <p14:sldId id="2561"/>
          </p14:sldIdLst>
        </p14:section>
        <p14:section name="Company Overview" id="{2EFBE26B-3411-4CFF-8152-41921878800F}">
          <p14:sldIdLst>
            <p14:sldId id="2562"/>
            <p14:sldId id="2563"/>
            <p14:sldId id="2564"/>
          </p14:sldIdLst>
        </p14:section>
        <p14:section name="Product Portfolio" id="{DC55FE05-C1E5-4F88-A5AA-50D1576E5EF3}">
          <p14:sldIdLst>
            <p14:sldId id="2565"/>
            <p14:sldId id="2566"/>
            <p14:sldId id="2567"/>
            <p14:sldId id="2568"/>
          </p14:sldIdLst>
        </p14:section>
        <p14:section name="Sales Performance" id="{A7C9CBFE-8807-41C6-99D2-33761CABC30E}">
          <p14:sldIdLst>
            <p14:sldId id="2569"/>
            <p14:sldId id="2570"/>
          </p14:sldIdLst>
        </p14:section>
        <p14:section name="Technical Highlights" id="{54B74199-FC47-4FA6-9BB3-A2A1026F2883}">
          <p14:sldIdLst>
            <p14:sldId id="2571"/>
            <p14:sldId id="2572"/>
            <p14:sldId id="2573"/>
          </p14:sldIdLst>
        </p14:section>
        <p14:section name="Contact Information" id="{5AEEB30B-400E-4405-9BE8-CCF36AE814CC}">
          <p14:sldIdLst>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87F672-1AE6-4624-B802-4F664D83D263}" v="15" dt="2025-12-02T05:32:52.0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C8E06C-DB2F-4A08-9FBA-0C4F74AB0F6A}"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ECAFDC96-BBF9-4A2B-88DB-55FC2028C0F4}">
      <dgm:prSet/>
      <dgm:spPr/>
      <dgm:t>
        <a:bodyPr/>
        <a:lstStyle/>
        <a:p>
          <a:pPr>
            <a:lnSpc>
              <a:spcPct val="100000"/>
            </a:lnSpc>
            <a:defRPr b="1"/>
          </a:pPr>
          <a:r>
            <a:rPr lang="en-US"/>
            <a:t>Global Operational Reach</a:t>
          </a:r>
        </a:p>
      </dgm:t>
    </dgm:pt>
    <dgm:pt modelId="{1756EC4A-C6A2-49D6-B045-1277B2436021}" type="parTrans" cxnId="{B8D5E94B-92BF-4C99-AEC9-203A54403883}">
      <dgm:prSet/>
      <dgm:spPr/>
      <dgm:t>
        <a:bodyPr/>
        <a:lstStyle/>
        <a:p>
          <a:endParaRPr lang="en-US"/>
        </a:p>
      </dgm:t>
    </dgm:pt>
    <dgm:pt modelId="{51CB2F26-CB9C-484B-B72E-A2675BCE4BD3}" type="sibTrans" cxnId="{B8D5E94B-92BF-4C99-AEC9-203A54403883}">
      <dgm:prSet/>
      <dgm:spPr/>
      <dgm:t>
        <a:bodyPr/>
        <a:lstStyle/>
        <a:p>
          <a:pPr>
            <a:lnSpc>
              <a:spcPct val="100000"/>
            </a:lnSpc>
            <a:defRPr b="1"/>
          </a:pPr>
          <a:endParaRPr lang="en-US"/>
        </a:p>
      </dgm:t>
    </dgm:pt>
    <dgm:pt modelId="{40C37246-365A-472F-A93C-B405E2CE5917}">
      <dgm:prSet/>
      <dgm:spPr/>
      <dgm:t>
        <a:bodyPr/>
        <a:lstStyle/>
        <a:p>
          <a:pPr>
            <a:lnSpc>
              <a:spcPct val="100000"/>
            </a:lnSpc>
          </a:pPr>
          <a:r>
            <a:rPr lang="en-US"/>
            <a:t>TechVision operates in over 45 countries with headquarters and offices in major global cities.</a:t>
          </a:r>
        </a:p>
      </dgm:t>
    </dgm:pt>
    <dgm:pt modelId="{DD9B4A6D-0F14-428F-AE35-9D564DB3AE69}" type="parTrans" cxnId="{CC6327A9-1BD8-402B-A6D3-62E1437985C9}">
      <dgm:prSet/>
      <dgm:spPr/>
      <dgm:t>
        <a:bodyPr/>
        <a:lstStyle/>
        <a:p>
          <a:endParaRPr lang="en-US"/>
        </a:p>
      </dgm:t>
    </dgm:pt>
    <dgm:pt modelId="{330017AF-0853-437B-B8F5-B32B58777E8D}" type="sibTrans" cxnId="{CC6327A9-1BD8-402B-A6D3-62E1437985C9}">
      <dgm:prSet/>
      <dgm:spPr/>
      <dgm:t>
        <a:bodyPr/>
        <a:lstStyle/>
        <a:p>
          <a:endParaRPr lang="en-US"/>
        </a:p>
      </dgm:t>
    </dgm:pt>
    <dgm:pt modelId="{C701790C-E591-47EB-B80C-173A9F782278}">
      <dgm:prSet/>
      <dgm:spPr/>
      <dgm:t>
        <a:bodyPr/>
        <a:lstStyle/>
        <a:p>
          <a:pPr>
            <a:lnSpc>
              <a:spcPct val="100000"/>
            </a:lnSpc>
            <a:defRPr b="1"/>
          </a:pPr>
          <a:r>
            <a:rPr lang="en-US"/>
            <a:t>Diverse Market Presence</a:t>
          </a:r>
        </a:p>
      </dgm:t>
    </dgm:pt>
    <dgm:pt modelId="{869A83D2-AB30-4735-9855-608DE8B8478D}" type="parTrans" cxnId="{DE937EA6-CDBC-440B-8C2A-E4DD1120BD48}">
      <dgm:prSet/>
      <dgm:spPr/>
      <dgm:t>
        <a:bodyPr/>
        <a:lstStyle/>
        <a:p>
          <a:endParaRPr lang="en-US"/>
        </a:p>
      </dgm:t>
    </dgm:pt>
    <dgm:pt modelId="{12367056-0AA7-4B72-8611-95278FBA89C8}" type="sibTrans" cxnId="{DE937EA6-CDBC-440B-8C2A-E4DD1120BD48}">
      <dgm:prSet/>
      <dgm:spPr/>
      <dgm:t>
        <a:bodyPr/>
        <a:lstStyle/>
        <a:p>
          <a:pPr>
            <a:lnSpc>
              <a:spcPct val="100000"/>
            </a:lnSpc>
            <a:defRPr b="1"/>
          </a:pPr>
          <a:endParaRPr lang="en-US"/>
        </a:p>
      </dgm:t>
    </dgm:pt>
    <dgm:pt modelId="{1D04082B-8445-435A-A526-94D597DCAE94}">
      <dgm:prSet/>
      <dgm:spPr/>
      <dgm:t>
        <a:bodyPr/>
        <a:lstStyle/>
        <a:p>
          <a:pPr>
            <a:lnSpc>
              <a:spcPct val="100000"/>
            </a:lnSpc>
          </a:pPr>
          <a:r>
            <a:rPr lang="en-US"/>
            <a:t>The company serves finance, healthcare, technology, and government sectors worldwide.</a:t>
          </a:r>
        </a:p>
      </dgm:t>
    </dgm:pt>
    <dgm:pt modelId="{2A1095F5-318D-4127-BF9F-F3C9ED3CD741}" type="parTrans" cxnId="{B6484E8C-E76C-489B-A114-A56BBEB7DD11}">
      <dgm:prSet/>
      <dgm:spPr/>
      <dgm:t>
        <a:bodyPr/>
        <a:lstStyle/>
        <a:p>
          <a:endParaRPr lang="en-US"/>
        </a:p>
      </dgm:t>
    </dgm:pt>
    <dgm:pt modelId="{1D208FF1-91C3-4C5A-A6C7-37EF5A96E2D7}" type="sibTrans" cxnId="{B6484E8C-E76C-489B-A114-A56BBEB7DD11}">
      <dgm:prSet/>
      <dgm:spPr/>
      <dgm:t>
        <a:bodyPr/>
        <a:lstStyle/>
        <a:p>
          <a:endParaRPr lang="en-US"/>
        </a:p>
      </dgm:t>
    </dgm:pt>
    <dgm:pt modelId="{2CD104C4-EE6E-4A47-B769-60C56FC4D499}">
      <dgm:prSet/>
      <dgm:spPr/>
      <dgm:t>
        <a:bodyPr/>
        <a:lstStyle/>
        <a:p>
          <a:pPr>
            <a:lnSpc>
              <a:spcPct val="100000"/>
            </a:lnSpc>
            <a:defRPr b="1"/>
          </a:pPr>
          <a:r>
            <a:rPr lang="en-US"/>
            <a:t>Industry Awards and Recognition</a:t>
          </a:r>
        </a:p>
      </dgm:t>
    </dgm:pt>
    <dgm:pt modelId="{146E7E5E-1559-44F8-B51D-B3B92F88FEBD}" type="parTrans" cxnId="{BE52FDCB-843C-4DB7-B6D2-58BE11C911E6}">
      <dgm:prSet/>
      <dgm:spPr/>
      <dgm:t>
        <a:bodyPr/>
        <a:lstStyle/>
        <a:p>
          <a:endParaRPr lang="en-US"/>
        </a:p>
      </dgm:t>
    </dgm:pt>
    <dgm:pt modelId="{CE081A03-955B-4068-9126-EE371CFAAAC7}" type="sibTrans" cxnId="{BE52FDCB-843C-4DB7-B6D2-58BE11C911E6}">
      <dgm:prSet/>
      <dgm:spPr/>
      <dgm:t>
        <a:bodyPr/>
        <a:lstStyle/>
        <a:p>
          <a:endParaRPr lang="en-US"/>
        </a:p>
      </dgm:t>
    </dgm:pt>
    <dgm:pt modelId="{FF7ADB7F-EC43-4906-8674-4A0B14129A20}">
      <dgm:prSet/>
      <dgm:spPr/>
      <dgm:t>
        <a:bodyPr/>
        <a:lstStyle/>
        <a:p>
          <a:pPr>
            <a:lnSpc>
              <a:spcPct val="100000"/>
            </a:lnSpc>
          </a:pPr>
          <a:r>
            <a:rPr lang="en-US"/>
            <a:t>TechVision’s accolades reflect its commitment to innovation, security, and sustainability.</a:t>
          </a:r>
        </a:p>
      </dgm:t>
    </dgm:pt>
    <dgm:pt modelId="{7C62278E-C2BD-4815-B027-D4BD8C99C671}" type="parTrans" cxnId="{CE0A264E-16BB-48A1-B0FF-CA533ED3E9A2}">
      <dgm:prSet/>
      <dgm:spPr/>
      <dgm:t>
        <a:bodyPr/>
        <a:lstStyle/>
        <a:p>
          <a:endParaRPr lang="en-US"/>
        </a:p>
      </dgm:t>
    </dgm:pt>
    <dgm:pt modelId="{D903021B-0975-416B-A692-D616CE85047C}" type="sibTrans" cxnId="{CE0A264E-16BB-48A1-B0FF-CA533ED3E9A2}">
      <dgm:prSet/>
      <dgm:spPr/>
      <dgm:t>
        <a:bodyPr/>
        <a:lstStyle/>
        <a:p>
          <a:endParaRPr lang="en-US"/>
        </a:p>
      </dgm:t>
    </dgm:pt>
    <dgm:pt modelId="{AFA85CCC-C474-4483-AE8F-59B2F93960FE}" type="pres">
      <dgm:prSet presAssocID="{58C8E06C-DB2F-4A08-9FBA-0C4F74AB0F6A}" presName="Root" presStyleCnt="0">
        <dgm:presLayoutVars>
          <dgm:dir/>
          <dgm:resizeHandles val="exact"/>
        </dgm:presLayoutVars>
      </dgm:prSet>
      <dgm:spPr/>
    </dgm:pt>
    <dgm:pt modelId="{2C909DC8-02D5-48CB-B2C8-663867A422F7}" type="pres">
      <dgm:prSet presAssocID="{ECAFDC96-BBF9-4A2B-88DB-55FC2028C0F4}" presName="Composite" presStyleCnt="0"/>
      <dgm:spPr/>
    </dgm:pt>
    <dgm:pt modelId="{B6C0D335-D3C5-403D-907F-82F47968F41A}" type="pres">
      <dgm:prSet presAssocID="{ECAFDC96-BBF9-4A2B-88DB-55FC2028C0F4}"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8158" r="15087" b="-6"/>
          <a:stretch/>
        </a:blipFill>
      </dgm:spPr>
      <dgm:extLst>
        <a:ext uri="{E40237B7-FDA0-4F09-8148-C483321AD2D9}">
          <dgm14:cNvPr xmlns:dgm14="http://schemas.microsoft.com/office/drawing/2010/diagram" id="0" name="" descr="A world map made of pins and strings"/>
        </a:ext>
      </dgm:extLst>
    </dgm:pt>
    <dgm:pt modelId="{E5DDF5F4-A957-4D4E-B408-C85CA6B350B6}" type="pres">
      <dgm:prSet presAssocID="{ECAFDC96-BBF9-4A2B-88DB-55FC2028C0F4}" presName="Subtitle" presStyleLbl="revTx" presStyleIdx="0" presStyleCnt="6">
        <dgm:presLayoutVars>
          <dgm:chMax val="0"/>
          <dgm:bulletEnabled/>
        </dgm:presLayoutVars>
      </dgm:prSet>
      <dgm:spPr/>
    </dgm:pt>
    <dgm:pt modelId="{557AF31A-0E71-4159-BA72-EACCFB321AEE}" type="pres">
      <dgm:prSet presAssocID="{ECAFDC96-BBF9-4A2B-88DB-55FC2028C0F4}" presName="Description" presStyleLbl="revTx" presStyleIdx="1" presStyleCnt="6">
        <dgm:presLayoutVars>
          <dgm:bulletEnabled/>
        </dgm:presLayoutVars>
      </dgm:prSet>
      <dgm:spPr/>
    </dgm:pt>
    <dgm:pt modelId="{ABB6B30D-2745-4742-871B-37C12F4527DB}" type="pres">
      <dgm:prSet presAssocID="{51CB2F26-CB9C-484B-B72E-A2675BCE4BD3}" presName="sibTrans" presStyleLbl="sibTrans2D1" presStyleIdx="0" presStyleCnt="0"/>
      <dgm:spPr/>
    </dgm:pt>
    <dgm:pt modelId="{68613CFE-0D57-4554-9758-2B809D2F7214}" type="pres">
      <dgm:prSet presAssocID="{C701790C-E591-47EB-B80C-173A9F782278}" presName="Composite" presStyleCnt="0"/>
      <dgm:spPr/>
    </dgm:pt>
    <dgm:pt modelId="{C38C4264-CB3E-4072-87BB-6307FAE5555B}" type="pres">
      <dgm:prSet presAssocID="{C701790C-E591-47EB-B80C-173A9F782278}"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747" r="19751" b="-4"/>
          <a:stretch/>
        </a:blipFill>
      </dgm:spPr>
      <dgm:extLst>
        <a:ext uri="{E40237B7-FDA0-4F09-8148-C483321AD2D9}">
          <dgm14:cNvPr xmlns:dgm14="http://schemas.microsoft.com/office/drawing/2010/diagram" id="0" name="" descr="Abundance of medical icons in geometric figures"/>
        </a:ext>
      </dgm:extLst>
    </dgm:pt>
    <dgm:pt modelId="{0158E5B1-32AB-41D7-B928-E8776743B75C}" type="pres">
      <dgm:prSet presAssocID="{C701790C-E591-47EB-B80C-173A9F782278}" presName="Subtitle" presStyleLbl="revTx" presStyleIdx="2" presStyleCnt="6">
        <dgm:presLayoutVars>
          <dgm:chMax val="0"/>
          <dgm:bulletEnabled/>
        </dgm:presLayoutVars>
      </dgm:prSet>
      <dgm:spPr/>
    </dgm:pt>
    <dgm:pt modelId="{C4C2DFC3-8DEF-48D5-8AFB-61E16E251E2D}" type="pres">
      <dgm:prSet presAssocID="{C701790C-E591-47EB-B80C-173A9F782278}" presName="Description" presStyleLbl="revTx" presStyleIdx="3" presStyleCnt="6">
        <dgm:presLayoutVars>
          <dgm:bulletEnabled/>
        </dgm:presLayoutVars>
      </dgm:prSet>
      <dgm:spPr/>
    </dgm:pt>
    <dgm:pt modelId="{1C973CFF-5982-4D1D-9E87-54E3FD608931}" type="pres">
      <dgm:prSet presAssocID="{12367056-0AA7-4B72-8611-95278FBA89C8}" presName="sibTrans" presStyleLbl="sibTrans2D1" presStyleIdx="0" presStyleCnt="0"/>
      <dgm:spPr/>
    </dgm:pt>
    <dgm:pt modelId="{C2087408-E5F0-43FF-9EBF-A5FB91BFE51C}" type="pres">
      <dgm:prSet presAssocID="{2CD104C4-EE6E-4A47-B769-60C56FC4D499}" presName="Composite" presStyleCnt="0"/>
      <dgm:spPr/>
    </dgm:pt>
    <dgm:pt modelId="{73636AFB-FA9F-4283-9DAC-6FF445E1D738}" type="pres">
      <dgm:prSet presAssocID="{2CD104C4-EE6E-4A47-B769-60C56FC4D499}"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3253" r="-7" b="-6"/>
          <a:stretch/>
        </a:blipFill>
      </dgm:spPr>
      <dgm:extLst>
        <a:ext uri="{E40237B7-FDA0-4F09-8148-C483321AD2D9}">
          <dgm14:cNvPr xmlns:dgm14="http://schemas.microsoft.com/office/drawing/2010/diagram" id="0" name="" descr="Winners Trophies"/>
        </a:ext>
      </dgm:extLst>
    </dgm:pt>
    <dgm:pt modelId="{15E39D23-E797-4E49-9410-0C77DAC3334B}" type="pres">
      <dgm:prSet presAssocID="{2CD104C4-EE6E-4A47-B769-60C56FC4D499}" presName="Subtitle" presStyleLbl="revTx" presStyleIdx="4" presStyleCnt="6">
        <dgm:presLayoutVars>
          <dgm:chMax val="0"/>
          <dgm:bulletEnabled/>
        </dgm:presLayoutVars>
      </dgm:prSet>
      <dgm:spPr/>
    </dgm:pt>
    <dgm:pt modelId="{C11E0B29-4F3B-44D4-9368-8C7B8CD5F497}" type="pres">
      <dgm:prSet presAssocID="{2CD104C4-EE6E-4A47-B769-60C56FC4D499}" presName="Description" presStyleLbl="revTx" presStyleIdx="5" presStyleCnt="6">
        <dgm:presLayoutVars>
          <dgm:bulletEnabled/>
        </dgm:presLayoutVars>
      </dgm:prSet>
      <dgm:spPr/>
    </dgm:pt>
  </dgm:ptLst>
  <dgm:cxnLst>
    <dgm:cxn modelId="{BBD8C938-F2ED-409B-966C-DC5680CF792D}" type="presOf" srcId="{51CB2F26-CB9C-484B-B72E-A2675BCE4BD3}" destId="{ABB6B30D-2745-4742-871B-37C12F4527DB}" srcOrd="0" destOrd="0" presId="urn:microsoft.com/office/officeart/2024/3/layout/verticalVisualTextBlock1"/>
    <dgm:cxn modelId="{B8D5E94B-92BF-4C99-AEC9-203A54403883}" srcId="{58C8E06C-DB2F-4A08-9FBA-0C4F74AB0F6A}" destId="{ECAFDC96-BBF9-4A2B-88DB-55FC2028C0F4}" srcOrd="0" destOrd="0" parTransId="{1756EC4A-C6A2-49D6-B045-1277B2436021}" sibTransId="{51CB2F26-CB9C-484B-B72E-A2675BCE4BD3}"/>
    <dgm:cxn modelId="{CE0A264E-16BB-48A1-B0FF-CA533ED3E9A2}" srcId="{2CD104C4-EE6E-4A47-B769-60C56FC4D499}" destId="{FF7ADB7F-EC43-4906-8674-4A0B14129A20}" srcOrd="0" destOrd="0" parTransId="{7C62278E-C2BD-4815-B027-D4BD8C99C671}" sibTransId="{D903021B-0975-416B-A692-D616CE85047C}"/>
    <dgm:cxn modelId="{08FF3170-3520-43F6-BE59-1ED09BEDF9C6}" type="presOf" srcId="{FF7ADB7F-EC43-4906-8674-4A0B14129A20}" destId="{C11E0B29-4F3B-44D4-9368-8C7B8CD5F497}" srcOrd="0" destOrd="0" presId="urn:microsoft.com/office/officeart/2024/3/layout/verticalVisualTextBlock1"/>
    <dgm:cxn modelId="{8793D179-7F23-480E-8484-D38F9E7B2FD2}" type="presOf" srcId="{2CD104C4-EE6E-4A47-B769-60C56FC4D499}" destId="{15E39D23-E797-4E49-9410-0C77DAC3334B}" srcOrd="0" destOrd="0" presId="urn:microsoft.com/office/officeart/2024/3/layout/verticalVisualTextBlock1"/>
    <dgm:cxn modelId="{B6484E8C-E76C-489B-A114-A56BBEB7DD11}" srcId="{C701790C-E591-47EB-B80C-173A9F782278}" destId="{1D04082B-8445-435A-A526-94D597DCAE94}" srcOrd="0" destOrd="0" parTransId="{2A1095F5-318D-4127-BF9F-F3C9ED3CD741}" sibTransId="{1D208FF1-91C3-4C5A-A6C7-37EF5A96E2D7}"/>
    <dgm:cxn modelId="{2965D790-8806-4D95-A88C-B9F3D875C139}" type="presOf" srcId="{C701790C-E591-47EB-B80C-173A9F782278}" destId="{0158E5B1-32AB-41D7-B928-E8776743B75C}" srcOrd="0" destOrd="0" presId="urn:microsoft.com/office/officeart/2024/3/layout/verticalVisualTextBlock1"/>
    <dgm:cxn modelId="{DE937EA6-CDBC-440B-8C2A-E4DD1120BD48}" srcId="{58C8E06C-DB2F-4A08-9FBA-0C4F74AB0F6A}" destId="{C701790C-E591-47EB-B80C-173A9F782278}" srcOrd="1" destOrd="0" parTransId="{869A83D2-AB30-4735-9855-608DE8B8478D}" sibTransId="{12367056-0AA7-4B72-8611-95278FBA89C8}"/>
    <dgm:cxn modelId="{E0030BA8-49EF-4259-875F-225C6F52D195}" type="presOf" srcId="{40C37246-365A-472F-A93C-B405E2CE5917}" destId="{557AF31A-0E71-4159-BA72-EACCFB321AEE}" srcOrd="0" destOrd="0" presId="urn:microsoft.com/office/officeart/2024/3/layout/verticalVisualTextBlock1"/>
    <dgm:cxn modelId="{CC6327A9-1BD8-402B-A6D3-62E1437985C9}" srcId="{ECAFDC96-BBF9-4A2B-88DB-55FC2028C0F4}" destId="{40C37246-365A-472F-A93C-B405E2CE5917}" srcOrd="0" destOrd="0" parTransId="{DD9B4A6D-0F14-428F-AE35-9D564DB3AE69}" sibTransId="{330017AF-0853-437B-B8F5-B32B58777E8D}"/>
    <dgm:cxn modelId="{40CA1EAE-A841-482D-B72C-46897D55F474}" type="presOf" srcId="{1D04082B-8445-435A-A526-94D597DCAE94}" destId="{C4C2DFC3-8DEF-48D5-8AFB-61E16E251E2D}" srcOrd="0" destOrd="0" presId="urn:microsoft.com/office/officeart/2024/3/layout/verticalVisualTextBlock1"/>
    <dgm:cxn modelId="{2276EBBC-3859-476B-9C0C-8ED270D38690}" type="presOf" srcId="{58C8E06C-DB2F-4A08-9FBA-0C4F74AB0F6A}" destId="{AFA85CCC-C474-4483-AE8F-59B2F93960FE}" srcOrd="0" destOrd="0" presId="urn:microsoft.com/office/officeart/2024/3/layout/verticalVisualTextBlock1"/>
    <dgm:cxn modelId="{BE52FDCB-843C-4DB7-B6D2-58BE11C911E6}" srcId="{58C8E06C-DB2F-4A08-9FBA-0C4F74AB0F6A}" destId="{2CD104C4-EE6E-4A47-B769-60C56FC4D499}" srcOrd="2" destOrd="0" parTransId="{146E7E5E-1559-44F8-B51D-B3B92F88FEBD}" sibTransId="{CE081A03-955B-4068-9126-EE371CFAAAC7}"/>
    <dgm:cxn modelId="{088DC1E3-9F44-46A4-AD1D-43840BE16B87}" type="presOf" srcId="{ECAFDC96-BBF9-4A2B-88DB-55FC2028C0F4}" destId="{E5DDF5F4-A957-4D4E-B408-C85CA6B350B6}" srcOrd="0" destOrd="0" presId="urn:microsoft.com/office/officeart/2024/3/layout/verticalVisualTextBlock1"/>
    <dgm:cxn modelId="{31BD20E4-B683-4D3C-AA69-0122397B2F90}" type="presOf" srcId="{12367056-0AA7-4B72-8611-95278FBA89C8}" destId="{1C973CFF-5982-4D1D-9E87-54E3FD608931}" srcOrd="0" destOrd="0" presId="urn:microsoft.com/office/officeart/2024/3/layout/verticalVisualTextBlock1"/>
    <dgm:cxn modelId="{43EE57D4-2355-4E1D-9A97-33795A9EC69E}" type="presParOf" srcId="{AFA85CCC-C474-4483-AE8F-59B2F93960FE}" destId="{2C909DC8-02D5-48CB-B2C8-663867A422F7}" srcOrd="0" destOrd="0" presId="urn:microsoft.com/office/officeart/2024/3/layout/verticalVisualTextBlock1"/>
    <dgm:cxn modelId="{19932973-FEE7-4929-91D3-11C2398D9B48}" type="presParOf" srcId="{2C909DC8-02D5-48CB-B2C8-663867A422F7}" destId="{B6C0D335-D3C5-403D-907F-82F47968F41A}" srcOrd="0" destOrd="0" presId="urn:microsoft.com/office/officeart/2024/3/layout/verticalVisualTextBlock1"/>
    <dgm:cxn modelId="{F8BE0352-58FB-470E-91F6-5781B80BA60A}" type="presParOf" srcId="{2C909DC8-02D5-48CB-B2C8-663867A422F7}" destId="{E5DDF5F4-A957-4D4E-B408-C85CA6B350B6}" srcOrd="1" destOrd="0" presId="urn:microsoft.com/office/officeart/2024/3/layout/verticalVisualTextBlock1"/>
    <dgm:cxn modelId="{54A20B62-3D1A-4BCE-8B5D-23A1CFA47410}" type="presParOf" srcId="{2C909DC8-02D5-48CB-B2C8-663867A422F7}" destId="{557AF31A-0E71-4159-BA72-EACCFB321AEE}" srcOrd="2" destOrd="0" presId="urn:microsoft.com/office/officeart/2024/3/layout/verticalVisualTextBlock1"/>
    <dgm:cxn modelId="{61BFBBEB-6720-4DCB-AB79-9FA94BBB425D}" type="presParOf" srcId="{AFA85CCC-C474-4483-AE8F-59B2F93960FE}" destId="{ABB6B30D-2745-4742-871B-37C12F4527DB}" srcOrd="1" destOrd="0" presId="urn:microsoft.com/office/officeart/2024/3/layout/verticalVisualTextBlock1"/>
    <dgm:cxn modelId="{56E365F5-CA7B-4633-A132-177AB3825E7C}" type="presParOf" srcId="{AFA85CCC-C474-4483-AE8F-59B2F93960FE}" destId="{68613CFE-0D57-4554-9758-2B809D2F7214}" srcOrd="2" destOrd="0" presId="urn:microsoft.com/office/officeart/2024/3/layout/verticalVisualTextBlock1"/>
    <dgm:cxn modelId="{445F1211-BEF7-428E-BC99-783176A58623}" type="presParOf" srcId="{68613CFE-0D57-4554-9758-2B809D2F7214}" destId="{C38C4264-CB3E-4072-87BB-6307FAE5555B}" srcOrd="0" destOrd="0" presId="urn:microsoft.com/office/officeart/2024/3/layout/verticalVisualTextBlock1"/>
    <dgm:cxn modelId="{D4F8C1F8-05E6-49BF-BA32-290D0B498B49}" type="presParOf" srcId="{68613CFE-0D57-4554-9758-2B809D2F7214}" destId="{0158E5B1-32AB-41D7-B928-E8776743B75C}" srcOrd="1" destOrd="0" presId="urn:microsoft.com/office/officeart/2024/3/layout/verticalVisualTextBlock1"/>
    <dgm:cxn modelId="{8C8313FD-B2A4-4BB6-929B-CEB780C82300}" type="presParOf" srcId="{68613CFE-0D57-4554-9758-2B809D2F7214}" destId="{C4C2DFC3-8DEF-48D5-8AFB-61E16E251E2D}" srcOrd="2" destOrd="0" presId="urn:microsoft.com/office/officeart/2024/3/layout/verticalVisualTextBlock1"/>
    <dgm:cxn modelId="{27BF09D2-43A7-41B8-A057-21EAD2397FFE}" type="presParOf" srcId="{AFA85CCC-C474-4483-AE8F-59B2F93960FE}" destId="{1C973CFF-5982-4D1D-9E87-54E3FD608931}" srcOrd="3" destOrd="0" presId="urn:microsoft.com/office/officeart/2024/3/layout/verticalVisualTextBlock1"/>
    <dgm:cxn modelId="{BA3133AC-9F94-4254-A76F-125C59D4456E}" type="presParOf" srcId="{AFA85CCC-C474-4483-AE8F-59B2F93960FE}" destId="{C2087408-E5F0-43FF-9EBF-A5FB91BFE51C}" srcOrd="4" destOrd="0" presId="urn:microsoft.com/office/officeart/2024/3/layout/verticalVisualTextBlock1"/>
    <dgm:cxn modelId="{95212074-E9EC-428B-95F3-5679B4A5CC41}" type="presParOf" srcId="{C2087408-E5F0-43FF-9EBF-A5FB91BFE51C}" destId="{73636AFB-FA9F-4283-9DAC-6FF445E1D738}" srcOrd="0" destOrd="0" presId="urn:microsoft.com/office/officeart/2024/3/layout/verticalVisualTextBlock1"/>
    <dgm:cxn modelId="{45DBBD18-A829-4B80-93DD-DF09B88A0702}" type="presParOf" srcId="{C2087408-E5F0-43FF-9EBF-A5FB91BFE51C}" destId="{15E39D23-E797-4E49-9410-0C77DAC3334B}" srcOrd="1" destOrd="0" presId="urn:microsoft.com/office/officeart/2024/3/layout/verticalVisualTextBlock1"/>
    <dgm:cxn modelId="{D4649A93-60CC-4A2C-9A9D-45DF67C3F09A}" type="presParOf" srcId="{C2087408-E5F0-43FF-9EBF-A5FB91BFE51C}" destId="{C11E0B29-4F3B-44D4-9368-8C7B8CD5F497}"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0D335-D3C5-403D-907F-82F47968F41A}">
      <dsp:nvSpPr>
        <dsp:cNvPr id="0" name=""/>
        <dsp:cNvSpPr/>
      </dsp:nvSpPr>
      <dsp:spPr>
        <a:xfrm>
          <a:off x="0" y="0"/>
          <a:ext cx="1491557" cy="149155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8158" r="15087" b="-6"/>
          <a:stretch/>
        </a:blipFill>
        <a:ln>
          <a:noFill/>
        </a:ln>
        <a:effectLst/>
      </dsp:spPr>
      <dsp:style>
        <a:lnRef idx="0">
          <a:scrgbClr r="0" g="0" b="0"/>
        </a:lnRef>
        <a:fillRef idx="3">
          <a:scrgbClr r="0" g="0" b="0"/>
        </a:fillRef>
        <a:effectRef idx="2">
          <a:scrgbClr r="0" g="0" b="0"/>
        </a:effectRef>
        <a:fontRef idx="minor">
          <a:schemeClr val="lt1"/>
        </a:fontRef>
      </dsp:style>
    </dsp:sp>
    <dsp:sp modelId="{E5DDF5F4-A957-4D4E-B408-C85CA6B350B6}">
      <dsp:nvSpPr>
        <dsp:cNvPr id="0" name=""/>
        <dsp:cNvSpPr/>
      </dsp:nvSpPr>
      <dsp:spPr>
        <a:xfrm>
          <a:off x="1671557" y="0"/>
          <a:ext cx="9137468" cy="36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Global Operational Reach</a:t>
          </a:r>
        </a:p>
      </dsp:txBody>
      <dsp:txXfrm>
        <a:off x="1671557" y="0"/>
        <a:ext cx="9137468" cy="368270"/>
      </dsp:txXfrm>
    </dsp:sp>
    <dsp:sp modelId="{557AF31A-0E71-4159-BA72-EACCFB321AEE}">
      <dsp:nvSpPr>
        <dsp:cNvPr id="0" name=""/>
        <dsp:cNvSpPr/>
      </dsp:nvSpPr>
      <dsp:spPr>
        <a:xfrm>
          <a:off x="1671557" y="368270"/>
          <a:ext cx="9137468" cy="1123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TechVision operates in over 45 countries with headquarters and offices in major global cities.</a:t>
          </a:r>
        </a:p>
      </dsp:txBody>
      <dsp:txXfrm>
        <a:off x="1671557" y="368270"/>
        <a:ext cx="9137468" cy="1123287"/>
      </dsp:txXfrm>
    </dsp:sp>
    <dsp:sp modelId="{C38C4264-CB3E-4072-87BB-6307FAE5555B}">
      <dsp:nvSpPr>
        <dsp:cNvPr id="0" name=""/>
        <dsp:cNvSpPr/>
      </dsp:nvSpPr>
      <dsp:spPr>
        <a:xfrm>
          <a:off x="0" y="1610882"/>
          <a:ext cx="1491557" cy="149155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747" r="19751" b="-4"/>
          <a:stretch/>
        </a:blipFill>
        <a:ln>
          <a:noFill/>
        </a:ln>
        <a:effectLst/>
      </dsp:spPr>
      <dsp:style>
        <a:lnRef idx="0">
          <a:scrgbClr r="0" g="0" b="0"/>
        </a:lnRef>
        <a:fillRef idx="3">
          <a:scrgbClr r="0" g="0" b="0"/>
        </a:fillRef>
        <a:effectRef idx="2">
          <a:scrgbClr r="0" g="0" b="0"/>
        </a:effectRef>
        <a:fontRef idx="minor">
          <a:schemeClr val="lt1"/>
        </a:fontRef>
      </dsp:style>
    </dsp:sp>
    <dsp:sp modelId="{0158E5B1-32AB-41D7-B928-E8776743B75C}">
      <dsp:nvSpPr>
        <dsp:cNvPr id="0" name=""/>
        <dsp:cNvSpPr/>
      </dsp:nvSpPr>
      <dsp:spPr>
        <a:xfrm>
          <a:off x="1671557" y="1610882"/>
          <a:ext cx="9137468" cy="36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Diverse Market Presence</a:t>
          </a:r>
        </a:p>
      </dsp:txBody>
      <dsp:txXfrm>
        <a:off x="1671557" y="1610882"/>
        <a:ext cx="9137468" cy="368270"/>
      </dsp:txXfrm>
    </dsp:sp>
    <dsp:sp modelId="{C4C2DFC3-8DEF-48D5-8AFB-61E16E251E2D}">
      <dsp:nvSpPr>
        <dsp:cNvPr id="0" name=""/>
        <dsp:cNvSpPr/>
      </dsp:nvSpPr>
      <dsp:spPr>
        <a:xfrm>
          <a:off x="1671557" y="1979152"/>
          <a:ext cx="9137468" cy="1123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company serves finance, healthcare, technology, and government sectors worldwide.</a:t>
          </a:r>
        </a:p>
      </dsp:txBody>
      <dsp:txXfrm>
        <a:off x="1671557" y="1979152"/>
        <a:ext cx="9137468" cy="1123287"/>
      </dsp:txXfrm>
    </dsp:sp>
    <dsp:sp modelId="{73636AFB-FA9F-4283-9DAC-6FF445E1D738}">
      <dsp:nvSpPr>
        <dsp:cNvPr id="0" name=""/>
        <dsp:cNvSpPr/>
      </dsp:nvSpPr>
      <dsp:spPr>
        <a:xfrm>
          <a:off x="0" y="3221764"/>
          <a:ext cx="1491557" cy="1491557"/>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3253" r="-7" b="-6"/>
          <a:stretch/>
        </a:blipFill>
        <a:ln>
          <a:noFill/>
        </a:ln>
        <a:effectLst/>
      </dsp:spPr>
      <dsp:style>
        <a:lnRef idx="0">
          <a:scrgbClr r="0" g="0" b="0"/>
        </a:lnRef>
        <a:fillRef idx="3">
          <a:scrgbClr r="0" g="0" b="0"/>
        </a:fillRef>
        <a:effectRef idx="2">
          <a:scrgbClr r="0" g="0" b="0"/>
        </a:effectRef>
        <a:fontRef idx="minor">
          <a:schemeClr val="lt1"/>
        </a:fontRef>
      </dsp:style>
    </dsp:sp>
    <dsp:sp modelId="{15E39D23-E797-4E49-9410-0C77DAC3334B}">
      <dsp:nvSpPr>
        <dsp:cNvPr id="0" name=""/>
        <dsp:cNvSpPr/>
      </dsp:nvSpPr>
      <dsp:spPr>
        <a:xfrm>
          <a:off x="1671557" y="3221764"/>
          <a:ext cx="9137468" cy="36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Industry Awards and Recognition</a:t>
          </a:r>
        </a:p>
      </dsp:txBody>
      <dsp:txXfrm>
        <a:off x="1671557" y="3221764"/>
        <a:ext cx="9137468" cy="368270"/>
      </dsp:txXfrm>
    </dsp:sp>
    <dsp:sp modelId="{C11E0B29-4F3B-44D4-9368-8C7B8CD5F497}">
      <dsp:nvSpPr>
        <dsp:cNvPr id="0" name=""/>
        <dsp:cNvSpPr/>
      </dsp:nvSpPr>
      <dsp:spPr>
        <a:xfrm>
          <a:off x="1671557" y="3590034"/>
          <a:ext cx="9137468" cy="1123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TechVision’s accolades reflect its commitment to innovation, security, and sustainability.</a:t>
          </a:r>
        </a:p>
      </dsp:txBody>
      <dsp:txXfrm>
        <a:off x="1671557" y="3590034"/>
        <a:ext cx="9137468" cy="1123287"/>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A46B0A-6908-4044-826B-E65446DF7FAD}" type="datetimeFigureOut">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C1166-77E8-4763-9E40-761676907140}" type="slidenum">
              <a:t>‹#›</a:t>
            </a:fld>
            <a:endParaRPr lang="en-US"/>
          </a:p>
        </p:txBody>
      </p:sp>
    </p:spTree>
    <p:extLst>
      <p:ext uri="{BB962C8B-B14F-4D97-AF65-F5344CB8AC3E}">
        <p14:creationId xmlns:p14="http://schemas.microsoft.com/office/powerpoint/2010/main" val="2699801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D5DB839-5B27-4E8E-96F8-2386239DBED1}" type="slidenum">
              <a:t>1</a:t>
            </a:fld>
            <a:endParaRPr lang="en-US"/>
          </a:p>
        </p:txBody>
      </p:sp>
    </p:spTree>
    <p:extLst>
      <p:ext uri="{BB962C8B-B14F-4D97-AF65-F5344CB8AC3E}">
        <p14:creationId xmlns:p14="http://schemas.microsoft.com/office/powerpoint/2010/main" val="3037247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https://teradata-my.sharepoint.com/personal/sriharsha_potnuru_teradata_com/Documents/Microsoft%20Copilot%20Chat%20Files/company_overview.md
Mission, History, and Core Values, Global Presence and Recognition
</a:t>
            </a:r>
          </a:p>
        </p:txBody>
      </p:sp>
      <p:sp>
        <p:nvSpPr>
          <p:cNvPr id="4" name="Slide Number Placeholder 3"/>
          <p:cNvSpPr>
            <a:spLocks noGrp="1"/>
          </p:cNvSpPr>
          <p:nvPr>
            <p:ph type="sldNum" sz="quarter" idx="5"/>
          </p:nvPr>
        </p:nvSpPr>
        <p:spPr/>
        <p:txBody>
          <a:bodyPr/>
          <a:lstStyle/>
          <a:p>
            <a:fld id="{CD5DB839-5B27-4E8E-96F8-2386239DBED1}" type="slidenum">
              <a:t>2</a:t>
            </a:fld>
            <a:endParaRPr lang="en-US"/>
          </a:p>
        </p:txBody>
      </p:sp>
    </p:spTree>
    <p:extLst>
      <p:ext uri="{BB962C8B-B14F-4D97-AF65-F5344CB8AC3E}">
        <p14:creationId xmlns:p14="http://schemas.microsoft.com/office/powerpoint/2010/main" val="4276416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https://teradata-my.sharepoint.com/personal/sriharsha_potnuru_teradata_com/Documents/Microsoft%20Copilot%20Chat%20Files/company_overview.md
TechVision Solutions was founded in 2018 with the mission of empowering businesses through innovative technology solutions that drive digital transformation and operational excellence. The company has evolved from a small startup with five employees into a global enterprise serving over 1,000 customers across 45+ countries. Its history includes major milestones such as launching CloudSync Pro in 2019, expanding into Europe in 2020, introducing DataGuard Analytics in 2021, and opening an Asia Pacific office in 2022. By 2023, TechVision had launched SmartFlow Automation and secured over 500 enterprise customers, and in 2024, integrated AI across all products. Core values include Innovation, Customer Success, Security First, and Sustainability, with a commitment to carbon-neutral operations by 2025. The company has received notable awards such as Gartner Cool Vendor in Cloud Computing and Forbes Cloud 100 Rising Star, highlighting its industry leadership and dedication to excellence.
</a:t>
            </a:r>
          </a:p>
        </p:txBody>
      </p:sp>
      <p:sp>
        <p:nvSpPr>
          <p:cNvPr id="4" name="Slide Number Placeholder 3"/>
          <p:cNvSpPr>
            <a:spLocks noGrp="1"/>
          </p:cNvSpPr>
          <p:nvPr>
            <p:ph type="sldNum" sz="quarter" idx="5"/>
          </p:nvPr>
        </p:nvSpPr>
        <p:spPr/>
        <p:txBody>
          <a:bodyPr/>
          <a:lstStyle/>
          <a:p>
            <a:fld id="{CD5DB839-5B27-4E8E-96F8-2386239DBED1}" type="slidenum">
              <a:t>3</a:t>
            </a:fld>
            <a:endParaRPr lang="en-US"/>
          </a:p>
        </p:txBody>
      </p:sp>
    </p:spTree>
    <p:extLst>
      <p:ext uri="{BB962C8B-B14F-4D97-AF65-F5344CB8AC3E}">
        <p14:creationId xmlns:p14="http://schemas.microsoft.com/office/powerpoint/2010/main" val="384878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https://teradata-my.sharepoint.com/personal/sriharsha_potnuru_teradata_com/Documents/Microsoft%20Copilot%20Chat%20Files/company_overview.md
TechVision Solutions maintains a strong global presence with headquarters in San Francisco, offices in London and Singapore, and operations spanning 45+ countries. The company employs over 1,200 professionals and serves diverse markets including finance, healthcare, technology, and government sectors. Its reputation is reinforced by industry accolades such as the 2023 Gartner Cool Vendor award and the 2024 Best Enterprise Software recognition. These achievements underscore TechVision’s commitment to innovation, security, and sustainability, positioning it as a trusted partner for enterprises worldwide.
</a:t>
            </a:r>
          </a:p>
        </p:txBody>
      </p:sp>
      <p:sp>
        <p:nvSpPr>
          <p:cNvPr id="4" name="Slide Number Placeholder 3"/>
          <p:cNvSpPr>
            <a:spLocks noGrp="1"/>
          </p:cNvSpPr>
          <p:nvPr>
            <p:ph type="sldNum" sz="quarter" idx="5"/>
          </p:nvPr>
        </p:nvSpPr>
        <p:spPr/>
        <p:txBody>
          <a:bodyPr/>
          <a:lstStyle/>
          <a:p>
            <a:fld id="{CD5DB839-5B27-4E8E-96F8-2386239DBED1}" type="slidenum">
              <a:t>4</a:t>
            </a:fld>
            <a:endParaRPr lang="en-US"/>
          </a:p>
        </p:txBody>
      </p:sp>
    </p:spTree>
    <p:extLst>
      <p:ext uri="{BB962C8B-B14F-4D97-AF65-F5344CB8AC3E}">
        <p14:creationId xmlns:p14="http://schemas.microsoft.com/office/powerpoint/2010/main" val="1399133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https://teradata-my.sharepoint.com/personal/sriharsha_potnuru_teradata_com/Documents/Microsoft%20Copilot%20Chat%20Files/product_catalog.txt
CloudSync Pro, DataGuard Analytics, SmartFlow Automation
</a:t>
            </a:r>
          </a:p>
        </p:txBody>
      </p:sp>
      <p:sp>
        <p:nvSpPr>
          <p:cNvPr id="4" name="Slide Number Placeholder 3"/>
          <p:cNvSpPr>
            <a:spLocks noGrp="1"/>
          </p:cNvSpPr>
          <p:nvPr>
            <p:ph type="sldNum" sz="quarter" idx="5"/>
          </p:nvPr>
        </p:nvSpPr>
        <p:spPr/>
        <p:txBody>
          <a:bodyPr/>
          <a:lstStyle/>
          <a:p>
            <a:fld id="{CD5DB839-5B27-4E8E-96F8-2386239DBED1}" type="slidenum">
              <a:t>5</a:t>
            </a:fld>
            <a:endParaRPr lang="en-US"/>
          </a:p>
        </p:txBody>
      </p:sp>
    </p:spTree>
    <p:extLst>
      <p:ext uri="{BB962C8B-B14F-4D97-AF65-F5344CB8AC3E}">
        <p14:creationId xmlns:p14="http://schemas.microsoft.com/office/powerpoint/2010/main" val="264901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https://teradata-my.sharepoint.com/personal/sriharsha_potnuru_teradata_com/Documents/Microsoft%20Copilot%20Chat%20Files/product_catalog.txt
CloudSync Pro is an advanced cloud synchronization platform designed for enterprise data management. It offers real-time synchronization, 256-bit encryption, multi-cloud support, and automated backups, making it ideal for large enterprises and Fortune 500 companies. Priced at $4,999 per year, CloudSync Pro ensures secure and efficient data handling across multiple cloud environments. Its robust features cater to organizations seeking reliability, scalability, and compliance in their data operations.
</a:t>
            </a:r>
          </a:p>
        </p:txBody>
      </p:sp>
      <p:sp>
        <p:nvSpPr>
          <p:cNvPr id="4" name="Slide Number Placeholder 3"/>
          <p:cNvSpPr>
            <a:spLocks noGrp="1"/>
          </p:cNvSpPr>
          <p:nvPr>
            <p:ph type="sldNum" sz="quarter" idx="5"/>
          </p:nvPr>
        </p:nvSpPr>
        <p:spPr/>
        <p:txBody>
          <a:bodyPr/>
          <a:lstStyle/>
          <a:p>
            <a:fld id="{CD5DB839-5B27-4E8E-96F8-2386239DBED1}" type="slidenum">
              <a:t>6</a:t>
            </a:fld>
            <a:endParaRPr lang="en-US"/>
          </a:p>
        </p:txBody>
      </p:sp>
    </p:spTree>
    <p:extLst>
      <p:ext uri="{BB962C8B-B14F-4D97-AF65-F5344CB8AC3E}">
        <p14:creationId xmlns:p14="http://schemas.microsoft.com/office/powerpoint/2010/main" val="4125323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https://teradata-my.sharepoint.com/personal/sriharsha_potnuru_teradata_com/Documents/Microsoft%20Copilot%20Chat%20Files/product_catalog.txt
DataGuard Analytics is an AI-powered platform focused on data security and analytics. It provides machine learning-based threat detection, compliance monitoring, and automated reporting. Targeted at financial institutions and healthcare providers, this solution addresses critical needs for regulatory compliance and proactive risk management. With a subscription price of $7,500 per year, DataGuard Analytics delivers advanced insights and robust protection for sensitive data.
</a:t>
            </a:r>
          </a:p>
        </p:txBody>
      </p:sp>
      <p:sp>
        <p:nvSpPr>
          <p:cNvPr id="4" name="Slide Number Placeholder 3"/>
          <p:cNvSpPr>
            <a:spLocks noGrp="1"/>
          </p:cNvSpPr>
          <p:nvPr>
            <p:ph type="sldNum" sz="quarter" idx="5"/>
          </p:nvPr>
        </p:nvSpPr>
        <p:spPr/>
        <p:txBody>
          <a:bodyPr/>
          <a:lstStyle/>
          <a:p>
            <a:fld id="{CD5DB839-5B27-4E8E-96F8-2386239DBED1}" type="slidenum">
              <a:t>7</a:t>
            </a:fld>
            <a:endParaRPr lang="en-US"/>
          </a:p>
        </p:txBody>
      </p:sp>
    </p:spTree>
    <p:extLst>
      <p:ext uri="{BB962C8B-B14F-4D97-AF65-F5344CB8AC3E}">
        <p14:creationId xmlns:p14="http://schemas.microsoft.com/office/powerpoint/2010/main" val="332506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https://teradata-my.sharepoint.com/personal/sriharsha_potnuru_teradata_com/Documents/Microsoft%20Copilot%20Chat%20Files/product_catalog.txt
SmartFlow Automation is a workflow automation and process optimization tool designed for mid-size businesses and IT departments. It features a drag-and-drop interface, API integrations, custom workflows, and an analytics dashboard. Priced at $2,999 per year, SmartFlow Automation helps organizations streamline operations, reduce manual tasks, and improve efficiency through intelligent automation.
</a:t>
            </a:r>
          </a:p>
        </p:txBody>
      </p:sp>
      <p:sp>
        <p:nvSpPr>
          <p:cNvPr id="4" name="Slide Number Placeholder 3"/>
          <p:cNvSpPr>
            <a:spLocks noGrp="1"/>
          </p:cNvSpPr>
          <p:nvPr>
            <p:ph type="sldNum" sz="quarter" idx="5"/>
          </p:nvPr>
        </p:nvSpPr>
        <p:spPr/>
        <p:txBody>
          <a:bodyPr/>
          <a:lstStyle/>
          <a:p>
            <a:fld id="{CD5DB839-5B27-4E8E-96F8-2386239DBED1}" type="slidenum">
              <a:t>8</a:t>
            </a:fld>
            <a:endParaRPr lang="en-US"/>
          </a:p>
        </p:txBody>
      </p:sp>
    </p:spTree>
    <p:extLst>
      <p:ext uri="{BB962C8B-B14F-4D97-AF65-F5344CB8AC3E}">
        <p14:creationId xmlns:p14="http://schemas.microsoft.com/office/powerpoint/2010/main" val="1305364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https://teradata-my.sharepoint.com/personal/sriharsha_potnuru_teradata_com/Documents/Microsoft%20Copilot%20Chat%20Files/sales_data.csv
Revenue Trends and Units Sold
</a:t>
            </a:r>
          </a:p>
        </p:txBody>
      </p:sp>
      <p:sp>
        <p:nvSpPr>
          <p:cNvPr id="4" name="Slide Number Placeholder 3"/>
          <p:cNvSpPr>
            <a:spLocks noGrp="1"/>
          </p:cNvSpPr>
          <p:nvPr>
            <p:ph type="sldNum" sz="quarter" idx="5"/>
          </p:nvPr>
        </p:nvSpPr>
        <p:spPr/>
        <p:txBody>
          <a:bodyPr/>
          <a:lstStyle/>
          <a:p>
            <a:fld id="{CD5DB839-5B27-4E8E-96F8-2386239DBED1}" type="slidenum">
              <a:t>9</a:t>
            </a:fld>
            <a:endParaRPr lang="en-US"/>
          </a:p>
        </p:txBody>
      </p:sp>
    </p:spTree>
    <p:extLst>
      <p:ext uri="{BB962C8B-B14F-4D97-AF65-F5344CB8AC3E}">
        <p14:creationId xmlns:p14="http://schemas.microsoft.com/office/powerpoint/2010/main" val="35966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https://teradata-my.sharepoint.com/personal/sriharsha_potnuru_teradata_com/Documents/Microsoft%20Copilot%20Chat%20Files/sales_data.csv
TechVision Solutions has demonstrated consistent growth across its product lines. Monthly revenue trends indicate strong performance, with CloudSync Pro generating significant income from North American enterprises, DataGuard Analytics excelling in European financial and healthcare sectors, and SmartFlow Automation gaining traction in Asia Pacific markets. Units sold have steadily increased month-over-month, reflecting robust demand and successful market penetration. These insights highlight the company’s ability to cater to diverse customer segments and maintain a competitive edge globally.
</a:t>
            </a:r>
          </a:p>
        </p:txBody>
      </p:sp>
      <p:sp>
        <p:nvSpPr>
          <p:cNvPr id="4" name="Slide Number Placeholder 3"/>
          <p:cNvSpPr>
            <a:spLocks noGrp="1"/>
          </p:cNvSpPr>
          <p:nvPr>
            <p:ph type="sldNum" sz="quarter" idx="5"/>
          </p:nvPr>
        </p:nvSpPr>
        <p:spPr/>
        <p:txBody>
          <a:bodyPr/>
          <a:lstStyle/>
          <a:p>
            <a:fld id="{CD5DB839-5B27-4E8E-96F8-2386239DBED1}" type="slidenum">
              <a:t>10</a:t>
            </a:fld>
            <a:endParaRPr lang="en-US"/>
          </a:p>
        </p:txBody>
      </p:sp>
    </p:spTree>
    <p:extLst>
      <p:ext uri="{BB962C8B-B14F-4D97-AF65-F5344CB8AC3E}">
        <p14:creationId xmlns:p14="http://schemas.microsoft.com/office/powerpoint/2010/main" val="3637376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https://teradata-my.sharepoint.com/personal/sriharsha_potnuru_teradata_com/Documents/Microsoft%20Copilot%20Chat%20Files/configuration.json,https://teradata-my.sharepoint.com/personal/sriharsha_potnuru_teradata_com/Documents/Microsoft%20Copilot%20Chat%20Files/deployment_script.sh
Configuration and Deployment, API and Integration Features
</a:t>
            </a:r>
          </a:p>
        </p:txBody>
      </p:sp>
      <p:sp>
        <p:nvSpPr>
          <p:cNvPr id="4" name="Slide Number Placeholder 3"/>
          <p:cNvSpPr>
            <a:spLocks noGrp="1"/>
          </p:cNvSpPr>
          <p:nvPr>
            <p:ph type="sldNum" sz="quarter" idx="5"/>
          </p:nvPr>
        </p:nvSpPr>
        <p:spPr/>
        <p:txBody>
          <a:bodyPr/>
          <a:lstStyle/>
          <a:p>
            <a:fld id="{CD5DB839-5B27-4E8E-96F8-2386239DBED1}" type="slidenum">
              <a:t>11</a:t>
            </a:fld>
            <a:endParaRPr lang="en-US"/>
          </a:p>
        </p:txBody>
      </p:sp>
    </p:spTree>
    <p:extLst>
      <p:ext uri="{BB962C8B-B14F-4D97-AF65-F5344CB8AC3E}">
        <p14:creationId xmlns:p14="http://schemas.microsoft.com/office/powerpoint/2010/main" val="1123250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https://teradata-my.sharepoint.com/personal/sriharsha_potnuru_teradata_com/Documents/Microsoft%20Copilot%20Chat%20Files/configuration.json,https://teradata-my.sharepoint.com/personal/sriharsha_potnuru_teradata_com/Documents/Microsoft%20Copilot%20Chat%20Files/deployment_script.sh
CloudSync Pro’s configuration emphasizes security, scalability, and performance. Key settings include AES-256-GCM encryption, OAuth2 authentication with multi-factor support, and audit logging with 365-day retention. The deployment process leverages Kubernetes and Helm for orchestration, Docker for containerization, and integrates monitoring tools like Prometheus and CloudWatch. Automated health checks and rollback mechanisms ensure reliability, while Slack notifications keep stakeholders informed. These practices reflect TechVision’s commitment to operational excellence and secure cloud deployments.
</a:t>
            </a:r>
          </a:p>
        </p:txBody>
      </p:sp>
      <p:sp>
        <p:nvSpPr>
          <p:cNvPr id="4" name="Slide Number Placeholder 3"/>
          <p:cNvSpPr>
            <a:spLocks noGrp="1"/>
          </p:cNvSpPr>
          <p:nvPr>
            <p:ph type="sldNum" sz="quarter" idx="5"/>
          </p:nvPr>
        </p:nvSpPr>
        <p:spPr/>
        <p:txBody>
          <a:bodyPr/>
          <a:lstStyle/>
          <a:p>
            <a:fld id="{CD5DB839-5B27-4E8E-96F8-2386239DBED1}" type="slidenum">
              <a:t>12</a:t>
            </a:fld>
            <a:endParaRPr lang="en-US"/>
          </a:p>
        </p:txBody>
      </p:sp>
    </p:spTree>
    <p:extLst>
      <p:ext uri="{BB962C8B-B14F-4D97-AF65-F5344CB8AC3E}">
        <p14:creationId xmlns:p14="http://schemas.microsoft.com/office/powerpoint/2010/main" val="1933420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https://teradata-my.sharepoint.com/personal/sriharsha_potnuru_teradata_com/Documents/Microsoft%20Copilot%20Chat%20Files/configuration.json,https://teradata-my.sharepoint.com/personal/sriharsha_potnuru_teradata_com/Documents/Microsoft%20Copilot%20Chat%20Files/deployment_script.sh
CloudSync Pro offers a RESTful API enabling seamless integration with enterprise applications. Authentication is managed via API keys, and endpoints support operations such as file synchronization, status retrieval, and job listing. Rate limits vary by tier, with Enterprise customers enjoying unlimited requests. Error handling includes clear codes for issues like unauthorized access and rate limit breaches. These capabilities empower developers to build secure, scalable integrations that enhance data synchronization across multiple cloud environments.
</a:t>
            </a:r>
          </a:p>
        </p:txBody>
      </p:sp>
      <p:sp>
        <p:nvSpPr>
          <p:cNvPr id="4" name="Slide Number Placeholder 3"/>
          <p:cNvSpPr>
            <a:spLocks noGrp="1"/>
          </p:cNvSpPr>
          <p:nvPr>
            <p:ph type="sldNum" sz="quarter" idx="5"/>
          </p:nvPr>
        </p:nvSpPr>
        <p:spPr/>
        <p:txBody>
          <a:bodyPr/>
          <a:lstStyle/>
          <a:p>
            <a:fld id="{CD5DB839-5B27-4E8E-96F8-2386239DBED1}" type="slidenum">
              <a:t>13</a:t>
            </a:fld>
            <a:endParaRPr lang="en-US"/>
          </a:p>
        </p:txBody>
      </p:sp>
    </p:spTree>
    <p:extLst>
      <p:ext uri="{BB962C8B-B14F-4D97-AF65-F5344CB8AC3E}">
        <p14:creationId xmlns:p14="http://schemas.microsoft.com/office/powerpoint/2010/main" val="797597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product_catalog.txt,https://teradata-my.sharepoint.com/personal/sriharsha_potnuru_teradata_com/Documents/Microsoft%20Copilot%20Chat%20Files/configuration.json,https://teradata-my.sharepoint.com/personal/sriharsha_potnuru_teradata_com/Documents/Microsoft%20Copilot%20Chat%20Files/technical_documentation.html
Sales and Support
</a:t>
            </a:r>
          </a:p>
        </p:txBody>
      </p:sp>
      <p:sp>
        <p:nvSpPr>
          <p:cNvPr id="4" name="Slide Number Placeholder 3"/>
          <p:cNvSpPr>
            <a:spLocks noGrp="1"/>
          </p:cNvSpPr>
          <p:nvPr>
            <p:ph type="sldNum" sz="quarter" idx="5"/>
          </p:nvPr>
        </p:nvSpPr>
        <p:spPr/>
        <p:txBody>
          <a:bodyPr/>
          <a:lstStyle/>
          <a:p>
            <a:fld id="{CD5DB839-5B27-4E8E-96F8-2386239DBED1}" type="slidenum">
              <a:t>14</a:t>
            </a:fld>
            <a:endParaRPr lang="en-US"/>
          </a:p>
        </p:txBody>
      </p:sp>
    </p:spTree>
    <p:extLst>
      <p:ext uri="{BB962C8B-B14F-4D97-AF65-F5344CB8AC3E}">
        <p14:creationId xmlns:p14="http://schemas.microsoft.com/office/powerpoint/2010/main" val="36795199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eradata-my.sharepoint.com/personal/sriharsha_potnuru_teradata_com/Documents/Microsoft%20Copilot%20Chat%20Files/product_catalog.txt,https://teradata-my.sharepoint.com/personal/sriharsha_potnuru_teradata_com/Documents/Microsoft%20Copilot%20Chat%20Files/configuration.json,https://teradata-my.sharepoint.com/personal/sriharsha_potnuru_teradata_com/Documents/Microsoft%20Copilot%20Chat%20Files/technical_documentation.html
For inquiries and support, TechVision Solutions provides multiple contact channels. Email sales@techvision-solutions.com for product-related questions or ops@techvision-solutions.com for operational alerts. Phone support is available at +1-800-TECH-VIS, and additional resources can be accessed via the official website at www.techvision-solutions.com. These channels ensure customers receive timely assistance and personalized service.
</a:t>
            </a:r>
          </a:p>
        </p:txBody>
      </p:sp>
      <p:sp>
        <p:nvSpPr>
          <p:cNvPr id="4" name="Slide Number Placeholder 3"/>
          <p:cNvSpPr>
            <a:spLocks noGrp="1"/>
          </p:cNvSpPr>
          <p:nvPr>
            <p:ph type="sldNum" sz="quarter" idx="5"/>
          </p:nvPr>
        </p:nvSpPr>
        <p:spPr/>
        <p:txBody>
          <a:bodyPr/>
          <a:lstStyle/>
          <a:p>
            <a:fld id="{CD5DB839-5B27-4E8E-96F8-2386239DBED1}" type="slidenum">
              <a:t>15</a:t>
            </a:fld>
            <a:endParaRPr lang="en-US"/>
          </a:p>
        </p:txBody>
      </p:sp>
    </p:spTree>
    <p:extLst>
      <p:ext uri="{BB962C8B-B14F-4D97-AF65-F5344CB8AC3E}">
        <p14:creationId xmlns:p14="http://schemas.microsoft.com/office/powerpoint/2010/main" val="358823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12/1/2025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12/1/2025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12/1/2025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12/1/2025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12/1/2025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12/1/2025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12/1/2025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12/1/2025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12/1/2025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12/1/2025</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12/1/2025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12/1/2025</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12/1/2025</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12/1/2025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12/1/2025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12/1/2025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12/1/2025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12/1/2025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12/1/2025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12/1/2025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12/1/2025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12/1/2025</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12/1/2025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12/1/2025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12/1/2025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12/1/2025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12/1/2025</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12/1/2025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2E37B-E808-EAAB-70FC-8106FFB726F5}"/>
              </a:ext>
            </a:extLst>
          </p:cNvPr>
          <p:cNvSpPr>
            <a:spLocks noGrp="1"/>
          </p:cNvSpPr>
          <p:nvPr>
            <p:ph type="ctrTitle"/>
          </p:nvPr>
        </p:nvSpPr>
        <p:spPr>
          <a:xfrm>
            <a:off x="457200" y="457200"/>
            <a:ext cx="4025153" cy="3739896"/>
          </a:xfrm>
        </p:spPr>
        <p:txBody>
          <a:bodyPr anchor="t">
            <a:normAutofit/>
          </a:bodyPr>
          <a:lstStyle/>
          <a:p>
            <a:r>
              <a:rPr lang="en-US"/>
              <a:t>TechVision Solutions Overview</a:t>
            </a:r>
          </a:p>
        </p:txBody>
      </p:sp>
      <p:sp>
        <p:nvSpPr>
          <p:cNvPr id="3" name="Subtitle 2">
            <a:extLst>
              <a:ext uri="{FF2B5EF4-FFF2-40B4-BE49-F238E27FC236}">
                <a16:creationId xmlns:a16="http://schemas.microsoft.com/office/drawing/2014/main" id="{FF54DB8C-F99E-8DA8-71D9-569134E8A1D1}"/>
              </a:ext>
            </a:extLst>
          </p:cNvPr>
          <p:cNvSpPr>
            <a:spLocks noGrp="1"/>
          </p:cNvSpPr>
          <p:nvPr>
            <p:ph type="subTitle" idx="1"/>
          </p:nvPr>
        </p:nvSpPr>
        <p:spPr>
          <a:xfrm>
            <a:off x="457200" y="5332780"/>
            <a:ext cx="4025153" cy="1016813"/>
          </a:xfrm>
        </p:spPr>
        <p:txBody>
          <a:bodyPr anchor="ctr">
            <a:normAutofit/>
          </a:bodyPr>
          <a:lstStyle/>
          <a:p>
            <a:r>
              <a:rPr lang="en-US"/>
              <a:t>Comprehensive insights into cutting-edge technology services</a:t>
            </a:r>
          </a:p>
        </p:txBody>
      </p:sp>
      <p:pic>
        <p:nvPicPr>
          <p:cNvPr id="4" name="Picture 3" descr="Abstract blockchain network background">
            <a:extLst>
              <a:ext uri="{FF2B5EF4-FFF2-40B4-BE49-F238E27FC236}">
                <a16:creationId xmlns:a16="http://schemas.microsoft.com/office/drawing/2014/main" id="{A25ADEE7-AA39-47D7-B004-E0A37E42E1F3}"/>
              </a:ext>
            </a:extLst>
          </p:cNvPr>
          <p:cNvPicPr>
            <a:picLocks noChangeAspect="1"/>
          </p:cNvPicPr>
          <p:nvPr/>
        </p:nvPicPr>
        <p:blipFill>
          <a:blip r:embed="rId3"/>
          <a:srcRect l="23253" r="11991" b="-1"/>
          <a:stretch>
            <a:fillRect/>
          </a:stretch>
        </p:blipFill>
        <p:spPr>
          <a:xfrm>
            <a:off x="5029201" y="10"/>
            <a:ext cx="7162800" cy="6857990"/>
          </a:xfrm>
          <a:prstGeom prst="rect">
            <a:avLst/>
          </a:prstGeom>
          <a:noFill/>
        </p:spPr>
      </p:pic>
    </p:spTree>
    <p:extLst>
      <p:ext uri="{BB962C8B-B14F-4D97-AF65-F5344CB8AC3E}">
        <p14:creationId xmlns:p14="http://schemas.microsoft.com/office/powerpoint/2010/main" val="229717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2DDD0-F065-C98A-4311-8BB18E9EF43A}"/>
              </a:ext>
            </a:extLst>
          </p:cNvPr>
          <p:cNvSpPr>
            <a:spLocks noGrp="1"/>
          </p:cNvSpPr>
          <p:nvPr>
            <p:ph type="ctrTitle"/>
          </p:nvPr>
        </p:nvSpPr>
        <p:spPr>
          <a:xfrm>
            <a:off x="457197" y="3507830"/>
            <a:ext cx="7772400" cy="2944368"/>
          </a:xfrm>
        </p:spPr>
        <p:txBody>
          <a:bodyPr anchor="b">
            <a:normAutofit/>
          </a:bodyPr>
          <a:lstStyle/>
          <a:p>
            <a:r>
              <a:rPr lang="en-US"/>
              <a:t>Company Overview</a:t>
            </a:r>
          </a:p>
        </p:txBody>
      </p:sp>
    </p:spTree>
    <p:extLst>
      <p:ext uri="{BB962C8B-B14F-4D97-AF65-F5344CB8AC3E}">
        <p14:creationId xmlns:p14="http://schemas.microsoft.com/office/powerpoint/2010/main" val="16305999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0E29-CEF5-BA8D-4EED-59166F549976}"/>
              </a:ext>
            </a:extLst>
          </p:cNvPr>
          <p:cNvSpPr>
            <a:spLocks noGrp="1"/>
          </p:cNvSpPr>
          <p:nvPr>
            <p:ph type="title"/>
          </p:nvPr>
        </p:nvSpPr>
        <p:spPr>
          <a:xfrm>
            <a:off x="457200" y="457200"/>
            <a:ext cx="4380272" cy="1453896"/>
          </a:xfrm>
        </p:spPr>
        <p:txBody>
          <a:bodyPr anchor="t">
            <a:normAutofit/>
          </a:bodyPr>
          <a:lstStyle/>
          <a:p>
            <a:r>
              <a:rPr lang="en-US"/>
              <a:t>Mission, History, and Core Values</a:t>
            </a:r>
          </a:p>
        </p:txBody>
      </p:sp>
      <p:pic>
        <p:nvPicPr>
          <p:cNvPr id="5" name="Content Placeholder 4" descr="Climate Risk Disclosure Reporting. Environment, Social and Governance (ESG)">
            <a:extLst>
              <a:ext uri="{FF2B5EF4-FFF2-40B4-BE49-F238E27FC236}">
                <a16:creationId xmlns:a16="http://schemas.microsoft.com/office/drawing/2014/main" id="{A3297B84-369A-437C-9DE6-B66CDD89EAA8}"/>
              </a:ext>
            </a:extLst>
          </p:cNvPr>
          <p:cNvPicPr>
            <a:picLocks noGrp="1" noChangeAspect="1"/>
          </p:cNvPicPr>
          <p:nvPr>
            <p:ph type="pic" sz="quarter" idx="13"/>
          </p:nvPr>
        </p:nvPicPr>
        <p:blipFill>
          <a:blip r:embed="rId3"/>
          <a:srcRect t="39919" r="2" b="8723"/>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FF1AB903-707C-5B48-2AC3-A5C89F1F473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Company Mission</a:t>
            </a:r>
          </a:p>
          <a:p>
            <a:pPr marL="0" lvl="1" indent="0">
              <a:buFont typeface="Arial" panose="020B0604020202020204" pitchFamily="34" charset="0"/>
              <a:buNone/>
            </a:pPr>
            <a:r>
              <a:t>TechVision Solutions empowers businesses through innovative technology driving digital transformation and operational excellence.</a:t>
            </a:r>
            <a:endParaRPr lang="en-US"/>
          </a:p>
          <a:p>
            <a:pPr marL="0" indent="0">
              <a:spcBef>
                <a:spcPts val="2500"/>
              </a:spcBef>
              <a:buFont typeface="Arial" panose="020B0604020202020204" pitchFamily="34" charset="0"/>
              <a:buNone/>
            </a:pPr>
            <a:r>
              <a:rPr lang="en-US" b="1"/>
              <a:t>Growth and Milestones</a:t>
            </a:r>
          </a:p>
          <a:p>
            <a:pPr marL="0" lvl="1" indent="0">
              <a:buFont typeface="Arial" panose="020B0604020202020204" pitchFamily="34" charset="0"/>
              <a:buNone/>
            </a:pPr>
            <a:r>
              <a:t>From a small startup in 2018 to a global enterprise with major product launches and international expansions by 2024.</a:t>
            </a:r>
            <a:endParaRPr lang="en-US"/>
          </a:p>
          <a:p>
            <a:pPr marL="0" indent="0">
              <a:spcBef>
                <a:spcPts val="2500"/>
              </a:spcBef>
              <a:buFont typeface="Arial" panose="020B0604020202020204" pitchFamily="34" charset="0"/>
              <a:buNone/>
            </a:pPr>
            <a:r>
              <a:rPr lang="en-US" b="1"/>
              <a:t>Core Values</a:t>
            </a:r>
          </a:p>
          <a:p>
            <a:pPr marL="0" lvl="1" indent="0">
              <a:buFont typeface="Arial" panose="020B0604020202020204" pitchFamily="34" charset="0"/>
              <a:buNone/>
            </a:pPr>
            <a:r>
              <a:t>Focused on Innovation, Customer Success, Security First, and Sustainability, aiming for carbon-neutral operations by 2025.</a:t>
            </a:r>
            <a:endParaRPr lang="en-US"/>
          </a:p>
          <a:p>
            <a:pPr marL="0" indent="0">
              <a:spcBef>
                <a:spcPts val="2500"/>
              </a:spcBef>
              <a:buFont typeface="Arial" panose="020B0604020202020204" pitchFamily="34" charset="0"/>
              <a:buNone/>
            </a:pPr>
            <a:r>
              <a:rPr lang="en-US" b="1"/>
              <a:t>Industry Recognition</a:t>
            </a:r>
          </a:p>
          <a:p>
            <a:pPr marL="0" lvl="1" indent="0">
              <a:buFont typeface="Arial" panose="020B0604020202020204" pitchFamily="34" charset="0"/>
              <a:buNone/>
            </a:pPr>
            <a:r>
              <a:t>Received awards like Gartner Cool Vendor and Forbes Cloud 100 Rising Star, showcasing leadership in cloud computing.</a:t>
            </a:r>
            <a:endParaRPr lang="en-US"/>
          </a:p>
        </p:txBody>
      </p:sp>
    </p:spTree>
    <p:extLst>
      <p:ext uri="{BB962C8B-B14F-4D97-AF65-F5344CB8AC3E}">
        <p14:creationId xmlns:p14="http://schemas.microsoft.com/office/powerpoint/2010/main" val="7974122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3C18-85F0-D729-EC67-EB0535A0F628}"/>
              </a:ext>
            </a:extLst>
          </p:cNvPr>
          <p:cNvSpPr>
            <a:spLocks noGrp="1"/>
          </p:cNvSpPr>
          <p:nvPr>
            <p:ph type="title"/>
          </p:nvPr>
        </p:nvSpPr>
        <p:spPr>
          <a:xfrm>
            <a:off x="457200" y="457201"/>
            <a:ext cx="10809026" cy="971006"/>
          </a:xfrm>
        </p:spPr>
        <p:txBody>
          <a:bodyPr anchor="b">
            <a:normAutofit/>
          </a:bodyPr>
          <a:lstStyle/>
          <a:p>
            <a:r>
              <a:rPr lang="en-US"/>
              <a:t>Global Presence and Recognition</a:t>
            </a:r>
          </a:p>
        </p:txBody>
      </p:sp>
      <p:graphicFrame>
        <p:nvGraphicFramePr>
          <p:cNvPr id="4" name="Content Placeholder 3">
            <a:extLst>
              <a:ext uri="{FF2B5EF4-FFF2-40B4-BE49-F238E27FC236}">
                <a16:creationId xmlns:a16="http://schemas.microsoft.com/office/drawing/2014/main" id="{1EB3D8C8-0B63-4BEA-8C70-DA17A81E3368}"/>
              </a:ext>
            </a:extLst>
          </p:cNvPr>
          <p:cNvGraphicFramePr>
            <a:graphicFrameLocks noGrp="1"/>
          </p:cNvGraphicFramePr>
          <p:nvPr>
            <p:ph idx="1"/>
            <p:extLst>
              <p:ext uri="{D42A27DB-BD31-4B8C-83A1-F6EECF244321}">
                <p14:modId xmlns:p14="http://schemas.microsoft.com/office/powerpoint/2010/main" val="1151185926"/>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57201" y="1595301"/>
          <a:ext cx="10809026" cy="47140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9802303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EA593-719B-5B5E-4F63-5A771B566FB2}"/>
              </a:ext>
            </a:extLst>
          </p:cNvPr>
          <p:cNvSpPr>
            <a:spLocks noGrp="1"/>
          </p:cNvSpPr>
          <p:nvPr>
            <p:ph type="ctrTitle"/>
          </p:nvPr>
        </p:nvSpPr>
        <p:spPr>
          <a:xfrm>
            <a:off x="457197" y="3507830"/>
            <a:ext cx="7772400" cy="2944368"/>
          </a:xfrm>
        </p:spPr>
        <p:txBody>
          <a:bodyPr anchor="b">
            <a:normAutofit/>
          </a:bodyPr>
          <a:lstStyle/>
          <a:p>
            <a:r>
              <a:rPr lang="en-US"/>
              <a:t>Product Portfolio</a:t>
            </a:r>
          </a:p>
        </p:txBody>
      </p:sp>
    </p:spTree>
    <p:extLst>
      <p:ext uri="{BB962C8B-B14F-4D97-AF65-F5344CB8AC3E}">
        <p14:creationId xmlns:p14="http://schemas.microsoft.com/office/powerpoint/2010/main" val="5501263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D9415-E6FC-A3FE-CD72-D3E3DC1B4A36}"/>
              </a:ext>
            </a:extLst>
          </p:cNvPr>
          <p:cNvSpPr>
            <a:spLocks noGrp="1"/>
          </p:cNvSpPr>
          <p:nvPr>
            <p:ph type="title"/>
          </p:nvPr>
        </p:nvSpPr>
        <p:spPr>
          <a:xfrm>
            <a:off x="457200" y="457200"/>
            <a:ext cx="4380272" cy="1453896"/>
          </a:xfrm>
        </p:spPr>
        <p:txBody>
          <a:bodyPr anchor="t">
            <a:normAutofit/>
          </a:bodyPr>
          <a:lstStyle/>
          <a:p>
            <a:r>
              <a:rPr lang="en-US"/>
              <a:t>CloudSync Pro</a:t>
            </a:r>
          </a:p>
        </p:txBody>
      </p:sp>
      <p:pic>
        <p:nvPicPr>
          <p:cNvPr id="5" name="Content Placeholder 4" descr="Cloud Computing">
            <a:extLst>
              <a:ext uri="{FF2B5EF4-FFF2-40B4-BE49-F238E27FC236}">
                <a16:creationId xmlns:a16="http://schemas.microsoft.com/office/drawing/2014/main" id="{52626B30-931B-405B-8EFB-9C9D0E7FFCA7}"/>
              </a:ext>
            </a:extLst>
          </p:cNvPr>
          <p:cNvPicPr>
            <a:picLocks noGrp="1" noChangeAspect="1"/>
          </p:cNvPicPr>
          <p:nvPr>
            <p:ph type="pic" sz="quarter" idx="13"/>
          </p:nvPr>
        </p:nvPicPr>
        <p:blipFill>
          <a:blip r:embed="rId3"/>
          <a:srcRect t="11360" r="-3" b="4787"/>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C751AE59-C315-AA92-413F-3DC5D9E830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Real-time Synchronization</a:t>
            </a:r>
          </a:p>
          <a:p>
            <a:pPr marL="0" lvl="1" indent="0">
              <a:buFont typeface="Arial" panose="020B0604020202020204" pitchFamily="34" charset="0"/>
              <a:buNone/>
            </a:pPr>
            <a:r>
              <a:t>CloudSync Pro provides seamless real-time data synchronization ensuring up-to-date information across platforms.</a:t>
            </a:r>
            <a:endParaRPr lang="en-US"/>
          </a:p>
          <a:p>
            <a:pPr marL="0" indent="0">
              <a:spcBef>
                <a:spcPts val="2500"/>
              </a:spcBef>
              <a:buFont typeface="Arial" panose="020B0604020202020204" pitchFamily="34" charset="0"/>
              <a:buNone/>
            </a:pPr>
            <a:r>
              <a:rPr lang="en-US" b="1"/>
              <a:t>Advanced Security</a:t>
            </a:r>
          </a:p>
          <a:p>
            <a:pPr marL="0" lvl="1" indent="0">
              <a:buFont typeface="Arial" panose="020B0604020202020204" pitchFamily="34" charset="0"/>
              <a:buNone/>
            </a:pPr>
            <a:r>
              <a:t>256-bit encryption and automated backups protect enterprise data from breaches and loss.</a:t>
            </a:r>
            <a:endParaRPr lang="en-US"/>
          </a:p>
          <a:p>
            <a:pPr marL="0" indent="0">
              <a:spcBef>
                <a:spcPts val="2500"/>
              </a:spcBef>
              <a:buFont typeface="Arial" panose="020B0604020202020204" pitchFamily="34" charset="0"/>
              <a:buNone/>
            </a:pPr>
            <a:r>
              <a:rPr lang="en-US" b="1"/>
              <a:t>Multi-cloud Support</a:t>
            </a:r>
          </a:p>
          <a:p>
            <a:pPr marL="0" lvl="1" indent="0">
              <a:buFont typeface="Arial" panose="020B0604020202020204" pitchFamily="34" charset="0"/>
              <a:buNone/>
            </a:pPr>
            <a:r>
              <a:t>Supports multiple cloud environments enabling scalable and flexible enterprise data management.</a:t>
            </a:r>
            <a:endParaRPr lang="en-US"/>
          </a:p>
          <a:p>
            <a:pPr marL="0" indent="0">
              <a:spcBef>
                <a:spcPts val="2500"/>
              </a:spcBef>
              <a:buFont typeface="Arial" panose="020B0604020202020204" pitchFamily="34" charset="0"/>
              <a:buNone/>
            </a:pPr>
            <a:r>
              <a:rPr lang="en-US" b="1"/>
              <a:t>Enterprise Scalability and Compliance</a:t>
            </a:r>
          </a:p>
          <a:p>
            <a:pPr marL="0" lvl="1" indent="0">
              <a:buFont typeface="Arial" panose="020B0604020202020204" pitchFamily="34" charset="0"/>
              <a:buNone/>
            </a:pPr>
            <a:r>
              <a:t>Designed for large enterprises, ensuring reliable, scalable, and compliant data handling solutions.</a:t>
            </a:r>
            <a:endParaRPr lang="en-US"/>
          </a:p>
        </p:txBody>
      </p:sp>
    </p:spTree>
    <p:extLst>
      <p:ext uri="{BB962C8B-B14F-4D97-AF65-F5344CB8AC3E}">
        <p14:creationId xmlns:p14="http://schemas.microsoft.com/office/powerpoint/2010/main" val="2383070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229CE-A57B-4E24-8A3E-5E4B75B8E21E}"/>
              </a:ext>
            </a:extLst>
          </p:cNvPr>
          <p:cNvSpPr>
            <a:spLocks noGrp="1"/>
          </p:cNvSpPr>
          <p:nvPr>
            <p:ph type="title"/>
          </p:nvPr>
        </p:nvSpPr>
        <p:spPr>
          <a:xfrm>
            <a:off x="457200" y="457200"/>
            <a:ext cx="4380272" cy="1453896"/>
          </a:xfrm>
        </p:spPr>
        <p:txBody>
          <a:bodyPr anchor="t">
            <a:normAutofit/>
          </a:bodyPr>
          <a:lstStyle/>
          <a:p>
            <a:r>
              <a:rPr lang="en-US"/>
              <a:t>DataGuard Analytics</a:t>
            </a:r>
          </a:p>
        </p:txBody>
      </p:sp>
      <p:pic>
        <p:nvPicPr>
          <p:cNvPr id="5" name="Content Placeholder 4" descr="Woman using cell phone at digital data science display">
            <a:extLst>
              <a:ext uri="{FF2B5EF4-FFF2-40B4-BE49-F238E27FC236}">
                <a16:creationId xmlns:a16="http://schemas.microsoft.com/office/drawing/2014/main" id="{14BF31FB-F943-447A-B2A2-F021CDAB4176}"/>
              </a:ext>
            </a:extLst>
          </p:cNvPr>
          <p:cNvPicPr>
            <a:picLocks noGrp="1" noChangeAspect="1"/>
          </p:cNvPicPr>
          <p:nvPr>
            <p:ph type="pic" sz="quarter" idx="13"/>
          </p:nvPr>
        </p:nvPicPr>
        <p:blipFill>
          <a:blip r:embed="rId3"/>
          <a:srcRect l="14072" r="6322"/>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BEF47661-0FDB-98DF-94A9-20CA1A32FF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AI-Powered Security</a:t>
            </a:r>
          </a:p>
          <a:p>
            <a:pPr marL="0" lvl="1" indent="0">
              <a:buFont typeface="Arial" panose="020B0604020202020204" pitchFamily="34" charset="0"/>
              <a:buNone/>
            </a:pPr>
            <a:r>
              <a:t>DataGuard Analytics leverages AI and machine learning for effective threat detection and data protection.</a:t>
            </a:r>
            <a:endParaRPr lang="en-US"/>
          </a:p>
          <a:p>
            <a:pPr marL="0" indent="0">
              <a:spcBef>
                <a:spcPts val="2500"/>
              </a:spcBef>
              <a:buFont typeface="Arial" panose="020B0604020202020204" pitchFamily="34" charset="0"/>
              <a:buNone/>
            </a:pPr>
            <a:r>
              <a:rPr lang="en-US" b="1"/>
              <a:t>Compliance Monitoring</a:t>
            </a:r>
          </a:p>
          <a:p>
            <a:pPr marL="0" lvl="1" indent="0">
              <a:buFont typeface="Arial" panose="020B0604020202020204" pitchFamily="34" charset="0"/>
              <a:buNone/>
            </a:pPr>
            <a:r>
              <a:t>The platform ensures regulatory compliance with continuous monitoring and automated reporting features.</a:t>
            </a:r>
            <a:endParaRPr lang="en-US"/>
          </a:p>
          <a:p>
            <a:pPr marL="0" indent="0">
              <a:spcBef>
                <a:spcPts val="2500"/>
              </a:spcBef>
              <a:buFont typeface="Arial" panose="020B0604020202020204" pitchFamily="34" charset="0"/>
              <a:buNone/>
            </a:pPr>
            <a:r>
              <a:rPr lang="en-US" b="1"/>
              <a:t>Targeted Industries</a:t>
            </a:r>
          </a:p>
          <a:p>
            <a:pPr marL="0" lvl="1" indent="0">
              <a:buFont typeface="Arial" panose="020B0604020202020204" pitchFamily="34" charset="0"/>
              <a:buNone/>
            </a:pPr>
            <a:r>
              <a:t>Designed for financial institutions and healthcare providers to meet critical security and compliance needs.</a:t>
            </a:r>
            <a:endParaRPr lang="en-US"/>
          </a:p>
          <a:p>
            <a:pPr marL="0" indent="0">
              <a:spcBef>
                <a:spcPts val="2500"/>
              </a:spcBef>
              <a:buFont typeface="Arial" panose="020B0604020202020204" pitchFamily="34" charset="0"/>
              <a:buNone/>
            </a:pPr>
            <a:r>
              <a:rPr lang="en-US" b="1"/>
              <a:t>Subscription Pricing</a:t>
            </a:r>
          </a:p>
          <a:p>
            <a:pPr marL="0" lvl="1" indent="0">
              <a:buFont typeface="Arial" panose="020B0604020202020204" pitchFamily="34" charset="0"/>
              <a:buNone/>
            </a:pPr>
            <a:r>
              <a:t>Offered at $7,500 per year, providing advanced insights and protection for sensitive data.</a:t>
            </a:r>
            <a:endParaRPr lang="en-US"/>
          </a:p>
        </p:txBody>
      </p:sp>
    </p:spTree>
    <p:extLst>
      <p:ext uri="{BB962C8B-B14F-4D97-AF65-F5344CB8AC3E}">
        <p14:creationId xmlns:p14="http://schemas.microsoft.com/office/powerpoint/2010/main" val="733233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0CF75-D164-4E74-CAC6-A51F00F5D184}"/>
              </a:ext>
            </a:extLst>
          </p:cNvPr>
          <p:cNvSpPr>
            <a:spLocks noGrp="1"/>
          </p:cNvSpPr>
          <p:nvPr>
            <p:ph type="title"/>
          </p:nvPr>
        </p:nvSpPr>
        <p:spPr>
          <a:xfrm>
            <a:off x="457200" y="457200"/>
            <a:ext cx="4380272" cy="1453896"/>
          </a:xfrm>
        </p:spPr>
        <p:txBody>
          <a:bodyPr anchor="t">
            <a:normAutofit/>
          </a:bodyPr>
          <a:lstStyle/>
          <a:p>
            <a:r>
              <a:rPr lang="en-US"/>
              <a:t>SmartFlow Automation</a:t>
            </a:r>
          </a:p>
        </p:txBody>
      </p:sp>
      <p:pic>
        <p:nvPicPr>
          <p:cNvPr id="5" name="Content Placeholder 4" descr="Rules for compliance with policies business">
            <a:extLst>
              <a:ext uri="{FF2B5EF4-FFF2-40B4-BE49-F238E27FC236}">
                <a16:creationId xmlns:a16="http://schemas.microsoft.com/office/drawing/2014/main" id="{DAD82B3F-821F-46E7-9628-AA175A463881}"/>
              </a:ext>
            </a:extLst>
          </p:cNvPr>
          <p:cNvPicPr>
            <a:picLocks noGrp="1" noChangeAspect="1"/>
          </p:cNvPicPr>
          <p:nvPr>
            <p:ph type="pic" sz="quarter" idx="13"/>
          </p:nvPr>
        </p:nvPicPr>
        <p:blipFill>
          <a:blip r:embed="rId3"/>
          <a:stretch/>
        </p:blipFill>
        <p:spPr>
          <a:xfrm>
            <a:off x="0" y="2653092"/>
            <a:ext cx="5584206" cy="3727457"/>
          </a:xfrm>
          <a:prstGeom prst="rect">
            <a:avLst/>
          </a:prstGeom>
          <a:noFill/>
        </p:spPr>
      </p:pic>
      <p:sp>
        <p:nvSpPr>
          <p:cNvPr id="4" name="Content Placeholder 3">
            <a:extLst>
              <a:ext uri="{FF2B5EF4-FFF2-40B4-BE49-F238E27FC236}">
                <a16:creationId xmlns:a16="http://schemas.microsoft.com/office/drawing/2014/main" id="{22F5744D-CD64-95F8-17AC-F68F584E3E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User-Friendly Interface</a:t>
            </a:r>
          </a:p>
          <a:p>
            <a:pPr marL="0" lvl="1" indent="0">
              <a:buFont typeface="Arial" panose="020B0604020202020204" pitchFamily="34" charset="0"/>
              <a:buNone/>
            </a:pPr>
            <a:r>
              <a:t>SmartFlow Automation offers a drag-and-drop interface for easy workflow design and customization.</a:t>
            </a:r>
            <a:endParaRPr lang="en-US"/>
          </a:p>
          <a:p>
            <a:pPr marL="0" indent="0">
              <a:spcBef>
                <a:spcPts val="2500"/>
              </a:spcBef>
              <a:buFont typeface="Arial" panose="020B0604020202020204" pitchFamily="34" charset="0"/>
              <a:buNone/>
            </a:pPr>
            <a:r>
              <a:rPr lang="en-US" b="1"/>
              <a:t>Integration Capabilities</a:t>
            </a:r>
          </a:p>
          <a:p>
            <a:pPr marL="0" lvl="1" indent="0">
              <a:buFont typeface="Arial" panose="020B0604020202020204" pitchFamily="34" charset="0"/>
              <a:buNone/>
            </a:pPr>
            <a:r>
              <a:t>It supports API integrations allowing seamless connection with other business applications.</a:t>
            </a:r>
            <a:endParaRPr lang="en-US"/>
          </a:p>
          <a:p>
            <a:pPr marL="0" indent="0">
              <a:spcBef>
                <a:spcPts val="2500"/>
              </a:spcBef>
              <a:buFont typeface="Arial" panose="020B0604020202020204" pitchFamily="34" charset="0"/>
              <a:buNone/>
            </a:pPr>
            <a:r>
              <a:rPr lang="en-US" b="1"/>
              <a:t>Custom Workflows</a:t>
            </a:r>
          </a:p>
          <a:p>
            <a:pPr marL="0" lvl="1" indent="0">
              <a:buFont typeface="Arial" panose="020B0604020202020204" pitchFamily="34" charset="0"/>
              <a:buNone/>
            </a:pPr>
            <a:r>
              <a:t>Users can create custom workflows tailored to their specific business processes and needs.</a:t>
            </a:r>
            <a:endParaRPr lang="en-US"/>
          </a:p>
          <a:p>
            <a:pPr marL="0" indent="0">
              <a:spcBef>
                <a:spcPts val="2500"/>
              </a:spcBef>
              <a:buFont typeface="Arial" panose="020B0604020202020204" pitchFamily="34" charset="0"/>
              <a:buNone/>
            </a:pPr>
            <a:r>
              <a:rPr lang="en-US" b="1"/>
              <a:t>Analytics Dashboard</a:t>
            </a:r>
          </a:p>
          <a:p>
            <a:pPr marL="0" lvl="1" indent="0">
              <a:buFont typeface="Arial" panose="020B0604020202020204" pitchFamily="34" charset="0"/>
              <a:buNone/>
            </a:pPr>
            <a:r>
              <a:t>The analytics dashboard provides insights to improve efficiency and track automation performance.</a:t>
            </a:r>
            <a:endParaRPr lang="en-US"/>
          </a:p>
        </p:txBody>
      </p:sp>
    </p:spTree>
    <p:extLst>
      <p:ext uri="{BB962C8B-B14F-4D97-AF65-F5344CB8AC3E}">
        <p14:creationId xmlns:p14="http://schemas.microsoft.com/office/powerpoint/2010/main" val="41121015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517E1-8AE5-9565-7FBC-026461689E2D}"/>
              </a:ext>
            </a:extLst>
          </p:cNvPr>
          <p:cNvSpPr>
            <a:spLocks noGrp="1"/>
          </p:cNvSpPr>
          <p:nvPr>
            <p:ph type="ctrTitle"/>
          </p:nvPr>
        </p:nvSpPr>
        <p:spPr>
          <a:xfrm>
            <a:off x="457197" y="3507830"/>
            <a:ext cx="7772400" cy="2944368"/>
          </a:xfrm>
        </p:spPr>
        <p:txBody>
          <a:bodyPr anchor="b">
            <a:normAutofit/>
          </a:bodyPr>
          <a:lstStyle/>
          <a:p>
            <a:r>
              <a:rPr lang="en-US"/>
              <a:t>Sales Performance</a:t>
            </a:r>
          </a:p>
        </p:txBody>
      </p:sp>
    </p:spTree>
    <p:extLst>
      <p:ext uri="{BB962C8B-B14F-4D97-AF65-F5344CB8AC3E}">
        <p14:creationId xmlns:p14="http://schemas.microsoft.com/office/powerpoint/2010/main" val="14186698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ADB8-FBF9-EC87-1214-4654E28B13A5}"/>
              </a:ext>
            </a:extLst>
          </p:cNvPr>
          <p:cNvSpPr>
            <a:spLocks noGrp="1"/>
          </p:cNvSpPr>
          <p:nvPr>
            <p:ph type="title"/>
          </p:nvPr>
        </p:nvSpPr>
        <p:spPr>
          <a:xfrm>
            <a:off x="457200" y="457201"/>
            <a:ext cx="10809026" cy="971006"/>
          </a:xfrm>
        </p:spPr>
        <p:txBody>
          <a:bodyPr anchor="b">
            <a:normAutofit/>
          </a:bodyPr>
          <a:lstStyle/>
          <a:p>
            <a:r>
              <a:rPr lang="en-US"/>
              <a:t>Revenue Trends and Units Sold</a:t>
            </a:r>
          </a:p>
        </p:txBody>
      </p:sp>
      <p:graphicFrame>
        <p:nvGraphicFramePr>
          <p:cNvPr id="5" name="Content Placeholder 4">
            <a:extLst>
              <a:ext uri="{FF2B5EF4-FFF2-40B4-BE49-F238E27FC236}">
                <a16:creationId xmlns:a16="http://schemas.microsoft.com/office/drawing/2014/main" id="{BE46AF5A-7B7B-490B-B4A6-E513EDFC5471}"/>
              </a:ext>
            </a:extLst>
          </p:cNvPr>
          <p:cNvGraphicFramePr>
            <a:graphicFrameLocks noGrp="1"/>
          </p:cNvGraphicFramePr>
          <p:nvPr>
            <p:ph idx="1"/>
          </p:nvPr>
        </p:nvGraphicFramePr>
        <p:xfrm>
          <a:off x="457201" y="2228357"/>
          <a:ext cx="10809028" cy="3447949"/>
        </p:xfrm>
        <a:graphic>
          <a:graphicData uri="http://schemas.openxmlformats.org/drawingml/2006/table">
            <a:tbl>
              <a:tblPr firstRow="1" bandRow="1">
                <a:noFill/>
                <a:tableStyleId>{5C22544A-7EE6-4342-B048-85BDC9FD1C3A}</a:tableStyleId>
              </a:tblPr>
              <a:tblGrid>
                <a:gridCol w="1594709">
                  <a:extLst>
                    <a:ext uri="{9D8B030D-6E8A-4147-A177-3AD203B41FA5}">
                      <a16:colId xmlns:a16="http://schemas.microsoft.com/office/drawing/2014/main" val="1645154908"/>
                    </a:ext>
                  </a:extLst>
                </a:gridCol>
                <a:gridCol w="1968751">
                  <a:extLst>
                    <a:ext uri="{9D8B030D-6E8A-4147-A177-3AD203B41FA5}">
                      <a16:colId xmlns:a16="http://schemas.microsoft.com/office/drawing/2014/main" val="277560561"/>
                    </a:ext>
                  </a:extLst>
                </a:gridCol>
                <a:gridCol w="1938586">
                  <a:extLst>
                    <a:ext uri="{9D8B030D-6E8A-4147-A177-3AD203B41FA5}">
                      <a16:colId xmlns:a16="http://schemas.microsoft.com/office/drawing/2014/main" val="3890546183"/>
                    </a:ext>
                  </a:extLst>
                </a:gridCol>
                <a:gridCol w="1421765">
                  <a:extLst>
                    <a:ext uri="{9D8B030D-6E8A-4147-A177-3AD203B41FA5}">
                      <a16:colId xmlns:a16="http://schemas.microsoft.com/office/drawing/2014/main" val="3552507726"/>
                    </a:ext>
                  </a:extLst>
                </a:gridCol>
                <a:gridCol w="1691236">
                  <a:extLst>
                    <a:ext uri="{9D8B030D-6E8A-4147-A177-3AD203B41FA5}">
                      <a16:colId xmlns:a16="http://schemas.microsoft.com/office/drawing/2014/main" val="3122861957"/>
                    </a:ext>
                  </a:extLst>
                </a:gridCol>
                <a:gridCol w="2193981">
                  <a:extLst>
                    <a:ext uri="{9D8B030D-6E8A-4147-A177-3AD203B41FA5}">
                      <a16:colId xmlns:a16="http://schemas.microsoft.com/office/drawing/2014/main" val="1082845292"/>
                    </a:ext>
                  </a:extLst>
                </a:gridCol>
              </a:tblGrid>
              <a:tr h="1011604">
                <a:tc>
                  <a:txBody>
                    <a:bodyPr/>
                    <a:lstStyle/>
                    <a:p>
                      <a:pPr>
                        <a:buNone/>
                      </a:pPr>
                      <a:r>
                        <a:rPr lang="en-US" sz="2000" b="1" cap="all" spc="150">
                          <a:solidFill>
                            <a:srgbClr val="F1F1F1"/>
                          </a:solidFill>
                        </a:rPr>
                        <a:t>Month</a:t>
                      </a:r>
                    </a:p>
                  </a:txBody>
                  <a:tcPr marL="173749" marR="173749" marT="173749" marB="17374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000" b="1" cap="all" spc="150">
                          <a:solidFill>
                            <a:srgbClr val="F1F1F1"/>
                          </a:solidFill>
                        </a:rPr>
                        <a:t>Product</a:t>
                      </a:r>
                    </a:p>
                  </a:txBody>
                  <a:tcPr marL="173749" marR="173749" marT="173749" marB="17374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000" b="1" cap="all" spc="150">
                          <a:solidFill>
                            <a:srgbClr val="F1F1F1"/>
                          </a:solidFill>
                        </a:rPr>
                        <a:t>Revenue</a:t>
                      </a:r>
                    </a:p>
                  </a:txBody>
                  <a:tcPr marL="173749" marR="173749" marT="173749" marB="17374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000" b="1" cap="all" spc="150">
                          <a:solidFill>
                            <a:srgbClr val="F1F1F1"/>
                          </a:solidFill>
                        </a:rPr>
                        <a:t>Units Sold</a:t>
                      </a:r>
                    </a:p>
                  </a:txBody>
                  <a:tcPr marL="173749" marR="173749" marT="173749" marB="17374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000" b="1" cap="all" spc="150">
                          <a:solidFill>
                            <a:srgbClr val="F1F1F1"/>
                          </a:solidFill>
                        </a:rPr>
                        <a:t>Region</a:t>
                      </a:r>
                    </a:p>
                  </a:txBody>
                  <a:tcPr marL="173749" marR="173749" marT="173749" marB="173749"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000" b="1" cap="all" spc="150">
                          <a:solidFill>
                            <a:srgbClr val="F1F1F1"/>
                          </a:solidFill>
                        </a:rPr>
                        <a:t>Customer Segment</a:t>
                      </a:r>
                    </a:p>
                  </a:txBody>
                  <a:tcPr marL="173749" marR="173749" marT="173749" marB="173749"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3896102544"/>
                  </a:ext>
                </a:extLst>
              </a:tr>
              <a:tr h="644801">
                <a:tc>
                  <a:txBody>
                    <a:bodyPr/>
                    <a:lstStyle/>
                    <a:p>
                      <a:pPr>
                        <a:buNone/>
                      </a:pPr>
                      <a:r>
                        <a:rPr lang="en-US" sz="1600" b="1" cap="none" spc="0">
                          <a:solidFill>
                            <a:schemeClr val="tx1"/>
                          </a:solidFill>
                        </a:rPr>
                        <a:t>January</a:t>
                      </a:r>
                    </a:p>
                  </a:txBody>
                  <a:tcPr marL="173749" marR="173749" marT="173749" marB="17374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CloudSync Pro</a:t>
                      </a:r>
                    </a:p>
                  </a:txBody>
                  <a:tcPr marL="173749" marR="173749" marT="173749" marB="17374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$249,950</a:t>
                      </a:r>
                    </a:p>
                  </a:txBody>
                  <a:tcPr marL="173749" marR="173749" marT="173749" marB="17374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50</a:t>
                      </a:r>
                    </a:p>
                  </a:txBody>
                  <a:tcPr marL="173749" marR="173749" marT="173749" marB="17374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North America</a:t>
                      </a:r>
                    </a:p>
                  </a:txBody>
                  <a:tcPr marL="173749" marR="173749" marT="173749" marB="17374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Enterprise</a:t>
                      </a:r>
                    </a:p>
                  </a:txBody>
                  <a:tcPr marL="173749" marR="173749" marT="173749" marB="173749"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678022854"/>
                  </a:ext>
                </a:extLst>
              </a:tr>
              <a:tr h="895772">
                <a:tc>
                  <a:txBody>
                    <a:bodyPr/>
                    <a:lstStyle/>
                    <a:p>
                      <a:pPr>
                        <a:buNone/>
                      </a:pPr>
                      <a:r>
                        <a:rPr lang="en-US" sz="1600" b="1" cap="none" spc="0">
                          <a:solidFill>
                            <a:schemeClr val="tx1"/>
                          </a:solidFill>
                        </a:rPr>
                        <a:t>January</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DataGuard Analytics</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$375,000</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50</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Europe</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Financial Services</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806795656"/>
                  </a:ext>
                </a:extLst>
              </a:tr>
              <a:tr h="895772">
                <a:tc>
                  <a:txBody>
                    <a:bodyPr/>
                    <a:lstStyle/>
                    <a:p>
                      <a:pPr>
                        <a:buNone/>
                      </a:pPr>
                      <a:r>
                        <a:rPr lang="en-US" sz="1600" b="1" cap="none" spc="0">
                          <a:solidFill>
                            <a:schemeClr val="tx1"/>
                          </a:solidFill>
                        </a:rPr>
                        <a:t>January</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a:solidFill>
                            <a:schemeClr val="tx1"/>
                          </a:solidFill>
                        </a:rPr>
                        <a:t>SmartFlow Automation</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a:solidFill>
                            <a:schemeClr val="tx1"/>
                          </a:solidFill>
                        </a:rPr>
                        <a:t>$149,950</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a:solidFill>
                            <a:schemeClr val="tx1"/>
                          </a:solidFill>
                        </a:rPr>
                        <a:t>50</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a:solidFill>
                            <a:schemeClr val="tx1"/>
                          </a:solidFill>
                        </a:rPr>
                        <a:t>Asia Pacific</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a:solidFill>
                            <a:schemeClr val="tx1"/>
                          </a:solidFill>
                        </a:rPr>
                        <a:t>Mid-Market</a:t>
                      </a:r>
                    </a:p>
                  </a:txBody>
                  <a:tcPr marL="173749" marR="173749" marT="173749" marB="173749"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2279613299"/>
                  </a:ext>
                </a:extLst>
              </a:tr>
            </a:tbl>
          </a:graphicData>
        </a:graphic>
      </p:graphicFrame>
    </p:spTree>
    <p:extLst>
      <p:ext uri="{BB962C8B-B14F-4D97-AF65-F5344CB8AC3E}">
        <p14:creationId xmlns:p14="http://schemas.microsoft.com/office/powerpoint/2010/main" val="10560494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8746C-0A66-E33E-9E98-9A1100CB72FE}"/>
              </a:ext>
            </a:extLst>
          </p:cNvPr>
          <p:cNvSpPr>
            <a:spLocks noGrp="1"/>
          </p:cNvSpPr>
          <p:nvPr>
            <p:ph type="ctrTitle"/>
          </p:nvPr>
        </p:nvSpPr>
        <p:spPr>
          <a:xfrm>
            <a:off x="457197" y="3507830"/>
            <a:ext cx="7772400" cy="2944368"/>
          </a:xfrm>
        </p:spPr>
        <p:txBody>
          <a:bodyPr anchor="b">
            <a:normAutofit/>
          </a:bodyPr>
          <a:lstStyle/>
          <a:p>
            <a:r>
              <a:rPr lang="en-US"/>
              <a:t>Technical Highlights</a:t>
            </a:r>
          </a:p>
        </p:txBody>
      </p:sp>
    </p:spTree>
    <p:extLst>
      <p:ext uri="{BB962C8B-B14F-4D97-AF65-F5344CB8AC3E}">
        <p14:creationId xmlns:p14="http://schemas.microsoft.com/office/powerpoint/2010/main" val="12384077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1D9B1-DA92-6404-77D8-6E867E650CBC}"/>
              </a:ext>
            </a:extLst>
          </p:cNvPr>
          <p:cNvSpPr>
            <a:spLocks noGrp="1"/>
          </p:cNvSpPr>
          <p:nvPr>
            <p:ph type="title"/>
          </p:nvPr>
        </p:nvSpPr>
        <p:spPr>
          <a:xfrm>
            <a:off x="457200" y="457200"/>
            <a:ext cx="4380272" cy="1453896"/>
          </a:xfrm>
        </p:spPr>
        <p:txBody>
          <a:bodyPr anchor="t">
            <a:normAutofit/>
          </a:bodyPr>
          <a:lstStyle/>
          <a:p>
            <a:r>
              <a:rPr lang="en-US"/>
              <a:t>Configuration and Deployment</a:t>
            </a:r>
          </a:p>
        </p:txBody>
      </p:sp>
      <p:pic>
        <p:nvPicPr>
          <p:cNvPr id="5" name="Content Placeholder 4" descr="Cloud Computing">
            <a:extLst>
              <a:ext uri="{FF2B5EF4-FFF2-40B4-BE49-F238E27FC236}">
                <a16:creationId xmlns:a16="http://schemas.microsoft.com/office/drawing/2014/main" id="{0CA3733B-C502-47C2-8E31-81A71A24F317}"/>
              </a:ext>
            </a:extLst>
          </p:cNvPr>
          <p:cNvPicPr>
            <a:picLocks noGrp="1" noChangeAspect="1"/>
          </p:cNvPicPr>
          <p:nvPr>
            <p:ph type="pic" sz="quarter" idx="13"/>
          </p:nvPr>
        </p:nvPicPr>
        <p:blipFill>
          <a:blip r:embed="rId3"/>
          <a:srcRect r="10556" b="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02C04251-C10E-6829-FE23-9A71D3374A6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Security and Authentication</a:t>
            </a:r>
          </a:p>
          <a:p>
            <a:pPr marL="0" lvl="1" indent="0">
              <a:buFont typeface="Arial" panose="020B0604020202020204" pitchFamily="34" charset="0"/>
              <a:buNone/>
            </a:pPr>
            <a:r>
              <a:t>CloudSync Pro uses AES-256-GCM encryption and OAuth2 with multi-factor authentication for robust security.</a:t>
            </a:r>
            <a:endParaRPr lang="en-US"/>
          </a:p>
          <a:p>
            <a:pPr marL="0" indent="0">
              <a:spcBef>
                <a:spcPts val="2500"/>
              </a:spcBef>
              <a:buFont typeface="Arial" panose="020B0604020202020204" pitchFamily="34" charset="0"/>
              <a:buNone/>
            </a:pPr>
            <a:r>
              <a:rPr lang="en-US" b="1"/>
              <a:t>Containerization and Orchestration</a:t>
            </a:r>
          </a:p>
          <a:p>
            <a:pPr marL="0" lvl="1" indent="0">
              <a:buFont typeface="Arial" panose="020B0604020202020204" pitchFamily="34" charset="0"/>
              <a:buNone/>
            </a:pPr>
            <a:r>
              <a:t>Deployment relies on Docker containers managed via Kubernetes and Helm for scalable orchestration.</a:t>
            </a:r>
            <a:endParaRPr lang="en-US"/>
          </a:p>
          <a:p>
            <a:pPr marL="0" indent="0">
              <a:spcBef>
                <a:spcPts val="2500"/>
              </a:spcBef>
              <a:buFont typeface="Arial" panose="020B0604020202020204" pitchFamily="34" charset="0"/>
              <a:buNone/>
            </a:pPr>
            <a:r>
              <a:rPr lang="en-US" b="1"/>
              <a:t>Monitoring and Reliability</a:t>
            </a:r>
          </a:p>
          <a:p>
            <a:pPr marL="0" lvl="1" indent="0">
              <a:buFont typeface="Arial" panose="020B0604020202020204" pitchFamily="34" charset="0"/>
              <a:buNone/>
            </a:pPr>
            <a:r>
              <a:t>Prometheus and CloudWatch provide monitoring, with health checks and rollback ensuring deployment reliability.</a:t>
            </a:r>
            <a:endParaRPr lang="en-US"/>
          </a:p>
          <a:p>
            <a:pPr marL="0" indent="0">
              <a:spcBef>
                <a:spcPts val="2500"/>
              </a:spcBef>
              <a:buFont typeface="Arial" panose="020B0604020202020204" pitchFamily="34" charset="0"/>
              <a:buNone/>
            </a:pPr>
            <a:r>
              <a:rPr lang="en-US" b="1"/>
              <a:t>Stakeholder Notifications</a:t>
            </a:r>
          </a:p>
          <a:p>
            <a:pPr marL="0" lvl="1" indent="0">
              <a:buFont typeface="Arial" panose="020B0604020202020204" pitchFamily="34" charset="0"/>
              <a:buNone/>
            </a:pPr>
            <a:r>
              <a:t>Slack notifications keep stakeholders informed about deployment status and alerts.</a:t>
            </a:r>
            <a:endParaRPr lang="en-US"/>
          </a:p>
        </p:txBody>
      </p:sp>
    </p:spTree>
    <p:extLst>
      <p:ext uri="{BB962C8B-B14F-4D97-AF65-F5344CB8AC3E}">
        <p14:creationId xmlns:p14="http://schemas.microsoft.com/office/powerpoint/2010/main" val="39556513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CD2A5-01EE-892A-F82E-9F877184013F}"/>
              </a:ext>
            </a:extLst>
          </p:cNvPr>
          <p:cNvSpPr>
            <a:spLocks noGrp="1"/>
          </p:cNvSpPr>
          <p:nvPr>
            <p:ph type="title"/>
          </p:nvPr>
        </p:nvSpPr>
        <p:spPr>
          <a:xfrm>
            <a:off x="457200" y="457201"/>
            <a:ext cx="10809026" cy="971006"/>
          </a:xfrm>
        </p:spPr>
        <p:txBody>
          <a:bodyPr anchor="b">
            <a:normAutofit/>
          </a:bodyPr>
          <a:lstStyle/>
          <a:p>
            <a:r>
              <a:rPr lang="en-US"/>
              <a:t>API and Integration Features</a:t>
            </a:r>
          </a:p>
        </p:txBody>
      </p:sp>
      <p:graphicFrame>
        <p:nvGraphicFramePr>
          <p:cNvPr id="5" name="Content Placeholder 4">
            <a:extLst>
              <a:ext uri="{FF2B5EF4-FFF2-40B4-BE49-F238E27FC236}">
                <a16:creationId xmlns:a16="http://schemas.microsoft.com/office/drawing/2014/main" id="{E6EB9A69-39FE-41B4-9B41-702E7033F098}"/>
              </a:ext>
            </a:extLst>
          </p:cNvPr>
          <p:cNvGraphicFramePr>
            <a:graphicFrameLocks noGrp="1"/>
          </p:cNvGraphicFramePr>
          <p:nvPr>
            <p:ph idx="1"/>
          </p:nvPr>
        </p:nvGraphicFramePr>
        <p:xfrm>
          <a:off x="457201" y="1804949"/>
          <a:ext cx="10809028" cy="4294763"/>
        </p:xfrm>
        <a:graphic>
          <a:graphicData uri="http://schemas.openxmlformats.org/drawingml/2006/table">
            <a:tbl>
              <a:tblPr firstRow="1" bandRow="1">
                <a:noFill/>
                <a:tableStyleId>{5C22544A-7EE6-4342-B048-85BDC9FD1C3A}</a:tableStyleId>
              </a:tblPr>
              <a:tblGrid>
                <a:gridCol w="2553476">
                  <a:extLst>
                    <a:ext uri="{9D8B030D-6E8A-4147-A177-3AD203B41FA5}">
                      <a16:colId xmlns:a16="http://schemas.microsoft.com/office/drawing/2014/main" val="1369306272"/>
                    </a:ext>
                  </a:extLst>
                </a:gridCol>
                <a:gridCol w="4127776">
                  <a:extLst>
                    <a:ext uri="{9D8B030D-6E8A-4147-A177-3AD203B41FA5}">
                      <a16:colId xmlns:a16="http://schemas.microsoft.com/office/drawing/2014/main" val="1944008274"/>
                    </a:ext>
                  </a:extLst>
                </a:gridCol>
                <a:gridCol w="4127776">
                  <a:extLst>
                    <a:ext uri="{9D8B030D-6E8A-4147-A177-3AD203B41FA5}">
                      <a16:colId xmlns:a16="http://schemas.microsoft.com/office/drawing/2014/main" val="3616215045"/>
                    </a:ext>
                  </a:extLst>
                </a:gridCol>
              </a:tblGrid>
              <a:tr h="1474742">
                <a:tc>
                  <a:txBody>
                    <a:bodyPr/>
                    <a:lstStyle/>
                    <a:p>
                      <a:pPr>
                        <a:buNone/>
                      </a:pPr>
                      <a:r>
                        <a:rPr lang="en-US" sz="3000" b="1" cap="all" spc="150">
                          <a:solidFill>
                            <a:schemeClr val="tx1"/>
                          </a:solidFill>
                        </a:rPr>
                        <a:t>Tier</a:t>
                      </a:r>
                    </a:p>
                  </a:txBody>
                  <a:tcPr marL="253295" marR="253295" marT="253295" marB="25329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3000" b="1" cap="all" spc="150">
                          <a:solidFill>
                            <a:schemeClr val="tx1"/>
                          </a:solidFill>
                        </a:rPr>
                        <a:t>Requests per Minute</a:t>
                      </a:r>
                    </a:p>
                  </a:txBody>
                  <a:tcPr marL="253295" marR="253295" marT="253295" marB="25329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3000" b="1" cap="all" spc="150">
                          <a:solidFill>
                            <a:schemeClr val="tx1"/>
                          </a:solidFill>
                        </a:rPr>
                        <a:t>Requests per Day</a:t>
                      </a:r>
                    </a:p>
                  </a:txBody>
                  <a:tcPr marL="253295" marR="253295" marT="253295" marB="25329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2046598225"/>
                  </a:ext>
                </a:extLst>
              </a:tr>
              <a:tr h="940007">
                <a:tc>
                  <a:txBody>
                    <a:bodyPr/>
                    <a:lstStyle/>
                    <a:p>
                      <a:pPr>
                        <a:buNone/>
                      </a:pPr>
                      <a:r>
                        <a:rPr lang="en-US" sz="2400" b="1" cap="none" spc="0">
                          <a:solidFill>
                            <a:schemeClr val="tx1"/>
                          </a:solidFill>
                        </a:rPr>
                        <a:t>Free</a:t>
                      </a:r>
                    </a:p>
                  </a:txBody>
                  <a:tcPr marL="253295" marR="253295" marT="253295" marB="25329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2400" cap="none" spc="0">
                          <a:solidFill>
                            <a:schemeClr val="tx1"/>
                          </a:solidFill>
                        </a:rPr>
                        <a:t>60</a:t>
                      </a:r>
                    </a:p>
                  </a:txBody>
                  <a:tcPr marL="253295" marR="253295" marT="253295" marB="25329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2400" cap="none" spc="0">
                          <a:solidFill>
                            <a:schemeClr val="tx1"/>
                          </a:solidFill>
                        </a:rPr>
                        <a:t>5,000</a:t>
                      </a:r>
                    </a:p>
                  </a:txBody>
                  <a:tcPr marL="253295" marR="253295" marT="253295" marB="253295"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67283369"/>
                  </a:ext>
                </a:extLst>
              </a:tr>
              <a:tr h="940007">
                <a:tc>
                  <a:txBody>
                    <a:bodyPr/>
                    <a:lstStyle/>
                    <a:p>
                      <a:pPr>
                        <a:buNone/>
                      </a:pPr>
                      <a:r>
                        <a:rPr lang="en-US" sz="2400" b="1" cap="none" spc="0">
                          <a:solidFill>
                            <a:schemeClr val="tx1"/>
                          </a:solidFill>
                        </a:rPr>
                        <a:t>Professional</a:t>
                      </a:r>
                    </a:p>
                  </a:txBody>
                  <a:tcPr marL="253295" marR="253295" marT="253295" marB="25329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2400" cap="none" spc="0">
                          <a:solidFill>
                            <a:schemeClr val="tx1"/>
                          </a:solidFill>
                        </a:rPr>
                        <a:t>300</a:t>
                      </a:r>
                    </a:p>
                  </a:txBody>
                  <a:tcPr marL="253295" marR="253295" marT="253295" marB="25329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2400" cap="none" spc="0">
                          <a:solidFill>
                            <a:schemeClr val="tx1"/>
                          </a:solidFill>
                        </a:rPr>
                        <a:t>50,000</a:t>
                      </a:r>
                    </a:p>
                  </a:txBody>
                  <a:tcPr marL="253295" marR="253295" marT="253295" marB="25329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895552887"/>
                  </a:ext>
                </a:extLst>
              </a:tr>
              <a:tr h="940007">
                <a:tc>
                  <a:txBody>
                    <a:bodyPr/>
                    <a:lstStyle/>
                    <a:p>
                      <a:pPr>
                        <a:buNone/>
                      </a:pPr>
                      <a:r>
                        <a:rPr lang="en-US" sz="2400" b="1" cap="none" spc="0">
                          <a:solidFill>
                            <a:schemeClr val="tx1"/>
                          </a:solidFill>
                        </a:rPr>
                        <a:t>Enterprise</a:t>
                      </a:r>
                    </a:p>
                  </a:txBody>
                  <a:tcPr marL="253295" marR="253295" marT="253295" marB="253295"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2400" cap="none" spc="0">
                          <a:solidFill>
                            <a:schemeClr val="tx1"/>
                          </a:solidFill>
                        </a:rPr>
                        <a:t>1,000</a:t>
                      </a:r>
                    </a:p>
                  </a:txBody>
                  <a:tcPr marL="253295" marR="253295" marT="253295" marB="253295"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2400" cap="none" spc="0">
                          <a:solidFill>
                            <a:schemeClr val="tx1"/>
                          </a:solidFill>
                        </a:rPr>
                        <a:t>Unlimited</a:t>
                      </a:r>
                    </a:p>
                  </a:txBody>
                  <a:tcPr marL="253295" marR="253295" marT="253295" marB="253295"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913494547"/>
                  </a:ext>
                </a:extLst>
              </a:tr>
            </a:tbl>
          </a:graphicData>
        </a:graphic>
      </p:graphicFrame>
    </p:spTree>
    <p:extLst>
      <p:ext uri="{BB962C8B-B14F-4D97-AF65-F5344CB8AC3E}">
        <p14:creationId xmlns:p14="http://schemas.microsoft.com/office/powerpoint/2010/main" val="64618266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53A22-D8CD-1E2E-6FE7-02EA0341347C}"/>
              </a:ext>
            </a:extLst>
          </p:cNvPr>
          <p:cNvSpPr>
            <a:spLocks noGrp="1"/>
          </p:cNvSpPr>
          <p:nvPr>
            <p:ph type="ctrTitle"/>
          </p:nvPr>
        </p:nvSpPr>
        <p:spPr>
          <a:xfrm>
            <a:off x="457197" y="3507830"/>
            <a:ext cx="7772400" cy="2944368"/>
          </a:xfrm>
        </p:spPr>
        <p:txBody>
          <a:bodyPr anchor="b">
            <a:normAutofit/>
          </a:bodyPr>
          <a:lstStyle/>
          <a:p>
            <a:r>
              <a:rPr lang="en-US"/>
              <a:t>Contact Information</a:t>
            </a:r>
          </a:p>
        </p:txBody>
      </p:sp>
    </p:spTree>
    <p:extLst>
      <p:ext uri="{BB962C8B-B14F-4D97-AF65-F5344CB8AC3E}">
        <p14:creationId xmlns:p14="http://schemas.microsoft.com/office/powerpoint/2010/main" val="3303882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36946-7D8A-5D40-D21D-6D30E7546EB1}"/>
              </a:ext>
            </a:extLst>
          </p:cNvPr>
          <p:cNvSpPr>
            <a:spLocks noGrp="1"/>
          </p:cNvSpPr>
          <p:nvPr>
            <p:ph type="title"/>
          </p:nvPr>
        </p:nvSpPr>
        <p:spPr>
          <a:xfrm>
            <a:off x="7242526" y="457200"/>
            <a:ext cx="4437283" cy="1410020"/>
          </a:xfrm>
        </p:spPr>
        <p:txBody>
          <a:bodyPr anchor="b">
            <a:normAutofit/>
          </a:bodyPr>
          <a:lstStyle/>
          <a:p>
            <a:r>
              <a:rPr lang="en-US"/>
              <a:t>Sales and Support</a:t>
            </a:r>
          </a:p>
        </p:txBody>
      </p:sp>
      <p:pic>
        <p:nvPicPr>
          <p:cNvPr id="5" name="Content Placeholder 4" descr="Multi ethnic group of professionals at a coworking office in a meeting discussing something">
            <a:extLst>
              <a:ext uri="{FF2B5EF4-FFF2-40B4-BE49-F238E27FC236}">
                <a16:creationId xmlns:a16="http://schemas.microsoft.com/office/drawing/2014/main" id="{3FDE089A-3589-46BE-9ACA-2A203EA831C0}"/>
              </a:ext>
            </a:extLst>
          </p:cNvPr>
          <p:cNvPicPr>
            <a:picLocks noGrp="1" noChangeAspect="1"/>
          </p:cNvPicPr>
          <p:nvPr>
            <p:ph type="pic" sz="quarter" idx="13"/>
          </p:nvPr>
        </p:nvPicPr>
        <p:blipFill>
          <a:blip r:embed="rId3"/>
          <a:srcRect l="28853" r="5729" b="-1"/>
          <a:stretch>
            <a:fillRect/>
          </a:stretch>
        </p:blipFill>
        <p:spPr>
          <a:xfrm>
            <a:off x="20" y="10"/>
            <a:ext cx="6721048" cy="6857990"/>
          </a:xfrm>
          <a:prstGeom prst="rect">
            <a:avLst/>
          </a:prstGeom>
          <a:noFill/>
        </p:spPr>
      </p:pic>
      <p:sp>
        <p:nvSpPr>
          <p:cNvPr id="4" name="Content Placeholder 3">
            <a:extLst>
              <a:ext uri="{FF2B5EF4-FFF2-40B4-BE49-F238E27FC236}">
                <a16:creationId xmlns:a16="http://schemas.microsoft.com/office/drawing/2014/main" id="{897B550C-6D3D-838E-587B-01D7F1E6F7C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indent="0">
              <a:spcBef>
                <a:spcPts val="2500"/>
              </a:spcBef>
              <a:buFont typeface="Arial" panose="020B0604020202020204" pitchFamily="34" charset="0"/>
              <a:buNone/>
            </a:pPr>
            <a:r>
              <a:rPr lang="en-US" b="1"/>
              <a:t>Email Support Channels</a:t>
            </a:r>
          </a:p>
          <a:p>
            <a:pPr marL="0" lvl="1" indent="0">
              <a:buFont typeface="Arial" panose="020B0604020202020204" pitchFamily="34" charset="0"/>
              <a:buNone/>
            </a:pPr>
            <a:r>
              <a:t>Customers can reach out via specific emails for sales inquiries and operational alerts to get targeted assistance.</a:t>
            </a:r>
            <a:endParaRPr lang="en-US"/>
          </a:p>
          <a:p>
            <a:pPr marL="0" indent="0">
              <a:spcBef>
                <a:spcPts val="2500"/>
              </a:spcBef>
              <a:buFont typeface="Arial" panose="020B0604020202020204" pitchFamily="34" charset="0"/>
              <a:buNone/>
            </a:pPr>
            <a:r>
              <a:rPr lang="en-US" b="1"/>
              <a:t>Phone Support Availability</a:t>
            </a:r>
          </a:p>
          <a:p>
            <a:pPr marL="0" lvl="1" indent="0">
              <a:buFont typeface="Arial" panose="020B0604020202020204" pitchFamily="34" charset="0"/>
              <a:buNone/>
            </a:pPr>
            <a:r>
              <a:t>Phone support is provided for direct and immediate assistance through a dedicated helpline.</a:t>
            </a:r>
            <a:endParaRPr lang="en-US"/>
          </a:p>
          <a:p>
            <a:pPr marL="0" indent="0">
              <a:spcBef>
                <a:spcPts val="2500"/>
              </a:spcBef>
              <a:buFont typeface="Arial" panose="020B0604020202020204" pitchFamily="34" charset="0"/>
              <a:buNone/>
            </a:pPr>
            <a:r>
              <a:rPr lang="en-US" b="1"/>
              <a:t>Online Resources Access</a:t>
            </a:r>
          </a:p>
          <a:p>
            <a:pPr marL="0" lvl="1" indent="0">
              <a:buFont typeface="Arial" panose="020B0604020202020204" pitchFamily="34" charset="0"/>
              <a:buNone/>
            </a:pPr>
            <a:r>
              <a:t>Additional support and information can be found through the official website’s resource center.</a:t>
            </a:r>
            <a:endParaRPr lang="en-US"/>
          </a:p>
        </p:txBody>
      </p:sp>
    </p:spTree>
    <p:extLst>
      <p:ext uri="{BB962C8B-B14F-4D97-AF65-F5344CB8AC3E}">
        <p14:creationId xmlns:p14="http://schemas.microsoft.com/office/powerpoint/2010/main" val="3069756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C4D25C3-873C-4C53-9166-E36A3E5D9C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138AE6-00E4-459C-8B3A-08927B7E54F0}">
  <ds:schemaRefs>
    <ds:schemaRef ds:uri="http://schemas.microsoft.com/sharepoint/v3/contenttype/forms"/>
  </ds:schemaRefs>
</ds:datastoreItem>
</file>

<file path=customXml/itemProps3.xml><?xml version="1.0" encoding="utf-8"?>
<ds:datastoreItem xmlns:ds="http://schemas.openxmlformats.org/officeDocument/2006/customXml" ds:itemID="{8749EA57-08A7-43CA-A845-5F6B0478829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1006</TotalTime>
  <Words>4</Words>
  <Application>Microsoft Office PowerPoint</Application>
  <PresentationFormat>Widescreen</PresentationFormat>
  <Paragraphs>2</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Bevel</vt:lpstr>
      <vt:lpstr>TechVision Solutions Overview</vt:lpstr>
      <vt:lpstr>Company Overview</vt:lpstr>
      <vt:lpstr>Mission, History, and Core Values</vt:lpstr>
      <vt:lpstr>Global Presence and Recognition</vt:lpstr>
      <vt:lpstr>Product Portfolio</vt:lpstr>
      <vt:lpstr>CloudSync Pro</vt:lpstr>
      <vt:lpstr>DataGuard Analytics</vt:lpstr>
      <vt:lpstr>SmartFlow Automation</vt:lpstr>
      <vt:lpstr>Sales Performance</vt:lpstr>
      <vt:lpstr>Revenue Trends and Units Sold</vt:lpstr>
      <vt:lpstr>Technical Highlights</vt:lpstr>
      <vt:lpstr>Configuration and Deployment</vt:lpstr>
      <vt:lpstr>API and Integration Features</vt:lpstr>
      <vt:lpstr>Contact Information</vt:lpstr>
      <vt:lpstr>Sales and Support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3</cp:revision>
  <dcterms:created xsi:type="dcterms:W3CDTF">2025-08-21T02:25:28Z</dcterms:created>
  <dcterms:modified xsi:type="dcterms:W3CDTF">2025-12-02T05:38:36Z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